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0:00-0:12 (~38 words; opener story + hook)</a:t>
            </a:r>
          </a:p>
          <a:p>
            <a:r>
              <a:t>[Use a real story from the team if you have one; otherwise this example persona.]</a:t>
            </a:r>
          </a:p>
          <a:p>
            <a:r>
              <a:t>"Riya's hostel flat splits groceries every week. The receipts end up in a WhatsApp photo pile, and someone types them into a spreadsheet. Our fine-tuned Gemma takes that from 6 to 63 percent of receipts read perfectly."</a:t>
            </a:r>
          </a:p>
          <a:p>
            <a:r>
              <a:t>(6 -&gt; 63 % = all four fields exactly right, strict, plain vs fine-tuned, 100 SROIE test receipts.)</a:t>
            </a:r>
          </a:p>
          <a:p/>
          <a:p>
            <a:r>
              <a:t>Run order for the 3-minute talk: slides 1 &gt; 2 &gt; 3 &gt; 4 &gt; 5 (live demo) &gt; 6 &gt; 7. Slides 8-13 are backup for Q&amp;A.</a:t>
            </a:r>
          </a:p>
          <a:p>
            <a:r>
              <a:t>Whole talk: about 365 spoken words, about 2:40 at 140 words/min plus demo actions. Rehearse with a timer.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0:12-0:24 (~27 words). SAAM (relate) then BHED (set us apart)</a:t>
            </a:r>
          </a:p>
          <a:p>
            <a:r>
              <a:t>"Every student has a receipt pile. Today's expense apps are paid, cloud-only, and never say which field to trust. Ours is a free, open model you can self-host, and it splits the bill."</a:t>
            </a:r>
          </a:p>
          <a:p/>
          <a:p>
            <a:r>
              <a:t>Pitch structure for the whole talk: SAAM = relate (the receipt pile, slide 2) · DAAM = the value we give (free, open, split the bill; the demo, slide 5) · DAND = the proof (6 -&gt; 63 %, p = 1e-6; slides 4 and 6) · BHED = what sets us apart (no OCR step, a measured trust check; slide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0:24-0:32 (~18 words)</a:t>
            </a:r>
          </a:p>
          <a:p>
            <a:r>
              <a:t>"Data: SROIE, 626 training and 361 test receipts; we test on a fixed 100 we never trained on."</a:t>
            </a:r>
          </a:p>
          <a:p/>
          <a:p>
            <a:r>
              <a:t>Compute (if asked): trained on a Colab G4 for speed (2.5 min). Unsloth's docs put E2B LoRA at about 8-10 GB, so the recipe should also fit a free T4, more slowly; we did not test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0:32-1:12 (~85 words)</a:t>
            </a:r>
          </a:p>
          <a:p>
            <a:r>
              <a:t>"One chart: same 100 receipts, same image budget, greedy decoding. Plain Gemma with a short instruction; the same model with a detailed prompt that spells out the label rules; and our LoRA fine-tune. Normalized scoring forgives case, currency and date format, so it measures reading, not formatting. All four fields right: plain 28 percent, prompted 37, fine-tuned 66. Against the prompted baseline, McNemar gives p of about one in a million: not just formatting. The biggest jump is the total, 73 to 95."</a:t>
            </a:r>
          </a:p>
          <a:p/>
          <a:p>
            <a:r>
              <a:t>Exact values: McNemar fine-tuned vs prompted, normalized 33 better / 4 worse, p = 1.1e-6; strict 48 / 2, p = 2.3e-12. Vs plain: normalized 42 / 4, p = 5.1e-9; strict 60 / 3, p = 9e-15.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1:12-2:20 (~100 words + actions)</a:t>
            </a:r>
          </a:p>
          <a:p>
            <a:r>
              <a:t>"Now yours: could one of you lend me a receipt?" [photograph it, press Extract]</a:t>
            </a:r>
          </a:p>
          <a:p>
            <a:r>
              <a:t>"This runs on a Colab GPU behind a public link; scan the QR to try it on your phone. The fine-tuned model fills the form, with the plain model beside it; when they disagree, it tells you which field to double-check. If the shop is in our vendor memory, it says so. Then split the bill: equally or item by item, with the items read off the receipt; tax and service are shared in proportion, and it settles up with the fewest payments. Add to expenses keeps a running total and a CSV."</a:t>
            </a:r>
          </a:p>
          <a:p/>
          <a:p>
            <a:r>
              <a:t>Trust check (measured on 100 test receipts, see the backup slide): when both models agree on all four fields (29 % of receipts) the fine-tuned answer is fully right 83 % of the time, vs 59 % otherwise; it flags 75 % of company and 64 % of address errors but only 40 % of total errors. Extract takes about 7 s (both models).</a:t>
            </a:r>
          </a:p>
          <a:p>
            <a:r>
              <a:t>Split details: 'shared by' takes names or 'all'; tax, service and rounding go into an 'Others' row shared in proportion, with a 'make sure this amount is correct' warning when it is large; a 'Left to split 0.00' check; the group ledger settles up with the fewest payments (e.g. 'Arjun pays Me 40.00') and downloads as CSV.</a:t>
            </a:r>
          </a:p>
          <a:p>
            <a:r>
              <a:t>Fallbacks: if a judge's receipt reads badly, say what failed and click a built-in example; if the link is dead, play the backup video. App link: https://f6753b53a276c78344.gradio.live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2:20-2:45 (~60 words). DAND (proof that it generalises)</a:t>
            </a:r>
          </a:p>
          <a:p>
            <a:r>
              <a:t>"It wins on shops it has never seen: 38 percent versus 19 for the prompted model. On other countries' receipts it stays safe: totals improve on all three datasets. It was trained on Malaysian receipts, so Indian receipts are our next step. It even catches label errors: the gold label says B1750, the receipt says 81750."</a:t>
            </a:r>
          </a:p>
          <a:p/>
          <a:p>
            <a:r>
              <a:t>Numbers: seen vs new shops, all four normalized: fine-tuned 82.5 vs 37.8; prompted 47.6 vs 18.9; plain 34.9 vs 16.2. WildReceipt all labelled fields 58 -&gt; 56 (p = 1.0); total 87.5 -&gt; 93.8 (p = 0.25). CORD total 87.5 -&gt; 91.7 (p = 0.62). Total-field change from fine-tuning: SROIE +24, WildReceipt +6.3, CORD +4.2.</a:t>
            </a:r>
          </a:p>
          <a:p/>
          <a:p>
            <a:r>
              <a:t>If asked for prior evidence: our research brief cites arXiv 2609.15706 as finding that fine-tuned small open VLMs beat zero-shot commercial systems on templated extraction. We could not re-verify it today; check before quoting.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2:45-3:00 (~38 words)</a:t>
            </a:r>
          </a:p>
          <a:p>
            <a:r>
              <a:t>"All eight bonus items are done. The biggest lever was resolution: 1120 visual tokens reach 76 percent, more than model size or rank. Next: Indian receipts, on-device, and a better trust score. Adapters and model card are on Hugging Face."</a:t>
            </a:r>
          </a:p>
          <a:p/>
          <a:p>
            <a:r>
              <a:t>HF: https://huggingface.co/owaisnoe/gemma4-e2b-sroie-lora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(Q&amp;A): training experiments and the E4B size comparison.</a:t>
            </a:r>
          </a:p>
          <a:p>
            <a:r>
              <a:t>All on the same 100 SROIE test receipts, all-four normalized / strict, exact McNemar vs the main fine-tuned E2B (r32, 157 steps, budget 560: 66 / 63).</a:t>
            </a:r>
          </a:p>
          <a:p>
            <a:r>
              <a:t>- Visual budget: 280 -&gt; 61 / 56; 560 -&gt; 66 / 63; 1120 -&gt; 76 / 70 (+11 / -1 vs 560, p = 0.0063). Plain: 33 / 10, 28 / 6, 22 / 7.</a:t>
            </a:r>
          </a:p>
          <a:p>
            <a:r>
              <a:t>- LoRA rank 8: 68 / 64 (+4 / -2, p = 0.69): rank 8 is enough.</a:t>
            </a:r>
          </a:p>
          <a:p>
            <a:r>
              <a:t>- 2 epochs (314 steps): 71 / 67 (+7 / -2, p = 0.18, n.s.). The 1-epoch learning curve plateaus by step 40 (first 50 receipts: 26 / 6 -&gt; 54 / 46 at step 40 -&gt; 54 / 52 at 157).</a:t>
            </a:r>
          </a:p>
          <a:p>
            <a:r>
              <a:t>- E4B (r32, 157 steps, 560): plain 42 / 16, prompted 44 / 32, fine-tuned 69 / 64; vs fine-tuned E2B +9 / -6, p = 0.61 (n.s.); vs its own prompted baseline +28 / -3, p = 4.6e-6. Clean inference speed (idle GPU, 20 receipts): E4B fine-tuned 3.46 s/receipt and 17.4 GB peak vs E2B fine-tuned 3.0 s/receipt and ~11 GB. Training peak 17.9 GB (E4B) vs 13.0 GB (E2B); training 6.35 min (2.43 s/step, GPU shared) vs 2.5 min (0.96 s/step, idle GPU).</a:t>
            </a:r>
          </a:p>
          <a:p>
            <a:r>
              <a:t>Message: resolution matters more than model size, rank or epochs; 1120 is the recommended next configuration (the demo app uses the main 560 model).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(Q&amp;A): the trust check shown in the app.</a:t>
            </a:r>
          </a:p>
          <a:p>
            <a:r>
              <a:t>For each field we compare the fine-tuned and plain answers (normalized). On the 100 test receipts: company agrees on 76 % of receipts (fine-tuned right 97 % when they agree, 75 % when they differ; 75 % of fine-tuned company errors are flagged by a disagreement); date 99 % / 100 % / 0 % / 100 %; address 59 % / 83 % / 56 % / 64 %; total 72 % / 96 % / 93 % / 40 %. Receipt level: all four fields agree on 29 % of receipts, which are 83 % all-four right vs 59 % when any field differs. Present it honestly: a cheap, useful signal, weakest for totals. A calibrated score is a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(Q&amp;A): error analysis of the fine-tuned model (section 13b categories, one per field).</a:t>
            </a:r>
          </a:p>
          <a:p>
            <a:r>
              <a:t>Address is the weak field: of 28 wrong addresses, 9 are punctuation or spacing only, 11 are near misses of one or two characters (e.g. KEWASAN vs KAWASAN, 61200 vs 81200), and 3 involve OCR-confusable characters, including the gold-label error B1750 (both models read 81750, the real postcode of Masai, Johor). Totals improved the most: the plain model had 13 missing and 13 wrong amounts; the fine-tuned model has 2 different amounts (one digit swap, 6.04 vs 6.40) and 3 Malaysian rounding adjustments (7.40 vs 7.42). Date: 1 truncated (11/16 vs 11/11/16).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(Q&amp;A): engineering findings.</a:t>
            </a:r>
          </a:p>
          <a:p>
            <a:r>
              <a:t>1) The collator bug: training and inference showed the same image-token count, 525 vs 525, but Unsloth's UnslothVisionDataCollator by default resizes images to 512 px wide (resize='min', the model config has no default size) and, for images inside the messages, snaps sizes to multiples of 32 px. Max pixel difference 0.34 on a 463x1013 receipt and 0.68 on a 4961x7016 receipt. Fix: an images column plus resize='max' -&gt; identical pixel_values (0.0000) on six receipts. Without it, the model would train on blurrier receipts than it reads at test time.</a:t>
            </a:r>
          </a:p>
          <a:p>
            <a:r>
              <a:t>2) SDPA prefill bug (torch &lt;= 2.13, prompt length = 1 mod 32): lengths were 541-587 and 663-709, none affected; eager matched SDPA on 3 + 3 receipts.</a:t>
            </a:r>
          </a:p>
          <a:p>
            <a:r>
              <a:t>3) 80 of 718 LoRA tensors were identical in every checkpoint; our explanation (not verified) is the KV-shared layers.</a:t>
            </a:r>
          </a:p>
          <a:p>
            <a:r>
              <a:t>Also: the smoke run's 12.5 s/step included compile warm-up; 157 steps took 2.5 min (0.96 s/step).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(Q&amp;A): RAG and line items.</a:t>
            </a:r>
          </a:p>
          <a:p>
            <a:r>
              <a:t>RAG = retrieval-augmented post-correction: the predicted company and address are matched against a vendor memory of 276 (company, address) pairs from 625 TRAIN receipts (test labels never used; threshold 0.85 fixed a priori). All four normalized: plain 28 -&gt; 39 (11 better / 0 worse, p = 0.001), prompted 37 -&gt; 47 (10 / 0, p = 0.002), fine-tuned 66 -&gt; 69 (3 / 0, p = 0.25, n.s.).</a:t>
            </a:r>
          </a:p>
          <a:p>
            <a:r>
              <a:t>Line items, zero-shot on 50 CORD receipts (126 gold item lines): item precision 62.8 vs 75.4, recall 81.7 vs 82.5, F1 71.0 vs 78.8; receipts with every item right 54 vs 64 % (10 / 5, p = 0.3); total right 81.2 vs 93.8 %; quantities right on all matched items. Failure example: on one long receipt the fine-tuned model dropped a line and shifted every later price up by one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the training-settings deliverable (also saved as summary.json in the notebook and in the model card).</a:t>
            </a:r>
          </a:p>
          <a:p>
            <a:r>
              <a:t>Gates on the runtime: B (560 budget applied: 525-544 image tokens), B2 (training collator pixels = inference pixels, max difference 0.0000), C (the trained text contains the JSON answer; image tokens masked; the instruction is also trained, the Unsloth default), D (finite losses: smoke 2.56 -&gt; 1.16; main run 0.98 at step 5, 0.016 at step 155). Adapters saved with save_pretrained, never merged. HF: https://huggingface.co/owaisnoe/gemma4-e2b-sroie-lora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6000" b="1" i="0">
                <a:solidFill>
                  <a:srgbClr val="0F172A"/>
                </a:solidFill>
                <a:latin typeface="Calibri"/>
              </a:rPr>
              <a:t>Receipt to Expense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334155"/>
                </a:solidFill>
                <a:latin typeface="Calibri"/>
              </a:rPr>
              <a:t>A fine-tuned Gemma 4 E2B that reads receipts and splits the bill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047857"/>
                </a:solidFill>
                <a:latin typeface="Calibri"/>
              </a:rPr>
              <a:t>Team Come_Join_Qarc</a:t>
            </a:r>
            <a:r>
              <a:rPr sz="1800" b="0" i="0">
                <a:solidFill>
                  <a:srgbClr val="64748B"/>
                </a:solidFill>
                <a:latin typeface="Calibri"/>
              </a:rPr>
              <a:t>  ·  SSIT Tumkur  ·  Theme 3B  ·  Hacktoberfest Hack Day  ·  24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105156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334155"/>
                </a:solidFill>
                <a:latin typeface="Calibri"/>
              </a:rPr>
              <a:t>Lead: </a:t>
            </a:r>
            <a:r>
              <a:rPr sz="1400" b="0" i="0">
                <a:solidFill>
                  <a:srgbClr val="334155"/>
                </a:solidFill>
                <a:latin typeface="Calibri"/>
              </a:rPr>
              <a:t>Mohammed Owais   </a:t>
            </a:r>
            <a:r>
              <a:rPr sz="1400" b="1" i="0">
                <a:solidFill>
                  <a:srgbClr val="334155"/>
                </a:solidFill>
                <a:latin typeface="Calibri"/>
              </a:rPr>
              <a:t>Members: </a:t>
            </a:r>
            <a:r>
              <a:rPr sz="1400" b="0" i="0">
                <a:solidFill>
                  <a:srgbClr val="334155"/>
                </a:solidFill>
                <a:latin typeface="Calibri"/>
              </a:rPr>
              <a:t>Mohammed Muzakkir · Mohammad Tariq Afzal · Mohammed Ayaan · Mohammed Younus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9476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867912"/>
            <a:ext cx="2468880" cy="729234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47857"/>
                </a:solidFill>
                <a:latin typeface="Calibri"/>
              </a:rPr>
              <a:t>66 %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563770"/>
            <a:ext cx="246888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all four fields right
(prompted Gemma: 37 %)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379476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3867912"/>
            <a:ext cx="2468880" cy="729234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47857"/>
                </a:solidFill>
                <a:latin typeface="Calibri"/>
              </a:rPr>
              <a:t>2.5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4563770"/>
            <a:ext cx="246888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LoRA training on
one GPU (626 receipts)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3794760"/>
            <a:ext cx="2194560" cy="13258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3867912"/>
            <a:ext cx="1920240" cy="729234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47857"/>
                </a:solidFill>
                <a:latin typeface="Calibri"/>
              </a:rPr>
              <a:t>5/5 + 8/8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4563770"/>
            <a:ext cx="192024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deliverables +
bonus items</a:t>
            </a:r>
          </a:p>
        </p:txBody>
      </p:sp>
      <p:pic>
        <p:nvPicPr>
          <p:cNvPr id="16" name="Picture 15" descr="qr_h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3520440"/>
            <a:ext cx="1691640" cy="1691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52560" y="5257800"/>
            <a:ext cx="29260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</a:rPr>
              <a:t>Adapters + model card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huggingface.co/owaisnoe/
gemma4-e2b-sroie-lora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89320"/>
            <a:ext cx="7772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4748B"/>
                </a:solidFill>
                <a:latin typeface="Calibri"/>
              </a:rPr>
              <a:t>Gemma 4 E2B + LoRA (Unsloth)  ·  SROIE receipts  ·  Gradio app with a public 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Problem: receipts are still typed in by hand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9848"/>
            <a:ext cx="11887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69880" y="384048"/>
            <a:ext cx="1188720" cy="38404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384048"/>
            <a:ext cx="11887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</a:rPr>
              <a:t>SAAM · BHED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Receipt to Expense  ·  Gemma 4 E2B + LoRA  ·  Theme 3B, Hacktoberfest Hack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2 /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47857"/>
                </a:solidFill>
                <a:latin typeface="Calibri"/>
              </a:rPr>
              <a:t>Who: </a:t>
            </a:r>
            <a:r>
              <a:rPr sz="2000" b="0" i="0">
                <a:solidFill>
                  <a:srgbClr val="0F172A"/>
                </a:solidFill>
                <a:latin typeface="Calibri"/>
              </a:rPr>
              <a:t>students sharing meals and trips, and small shops logging purchases.</a:t>
            </a:r>
          </a:p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0F172A"/>
                </a:solidFill>
                <a:latin typeface="Calibri"/>
              </a:rPr>
              <a:t>Typing receipts in by hand is slow and error-prone.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5349240" cy="3063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95728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334155"/>
                </a:solidFill>
                <a:latin typeface="Calibri"/>
              </a:rPr>
              <a:t>Today's expense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25496"/>
            <a:ext cx="49377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built for companies, not for 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493776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2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0F172A"/>
                </a:solidFill>
                <a:latin typeface="Calibri"/>
              </a:rPr>
              <a:t>Closed, paid, cloud OCR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2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0F172A"/>
                </a:solidFill>
                <a:latin typeface="Calibri"/>
              </a:rPr>
              <a:t>Built for company cards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20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0F172A"/>
                </a:solidFill>
                <a:latin typeface="Calibri"/>
              </a:rPr>
              <a:t>Never say which field to trust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286000"/>
            <a:ext cx="5349240" cy="30632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395728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047857"/>
                </a:solidFill>
                <a:latin typeface="Calibri"/>
              </a:rPr>
              <a:t>Receipt to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25496"/>
            <a:ext cx="49377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what we built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00400"/>
            <a:ext cx="493776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9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0F172A"/>
                </a:solidFill>
                <a:latin typeface="Calibri"/>
              </a:rPr>
              <a:t>Free, open 2B-class Gemma 4 E2B you can self-host + one LoRA file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9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0F172A"/>
                </a:solidFill>
                <a:latin typeface="Calibri"/>
              </a:rPr>
              <a:t>Proven: baselines, significance tests, 3 datasets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9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900" b="0" i="0">
                <a:solidFill>
                  <a:srgbClr val="0F172A"/>
                </a:solidFill>
                <a:latin typeface="Calibri"/>
              </a:rPr>
              <a:t>Says which field to double-check, and splits the bill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513832"/>
            <a:ext cx="1074420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F59E0B"/>
                </a:solidFill>
                <a:latin typeface="Calibri"/>
              </a:rPr>
              <a:t>No OCR step.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Most receipt hacks chain OCR + an LLM; ours is one fine-tuned open vision-language model from photo to fields, measured with McNemar and out-of-distribution tests.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Data and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9848"/>
            <a:ext cx="11887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941832"/>
            <a:ext cx="969264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dataset description and training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Receipt to Expense  ·  Gemma 4 E2B + LoRA  ·  Theme 3B, Hacktoberfest Hack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3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246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334155"/>
                </a:solidFill>
                <a:latin typeface="Calibri"/>
              </a:rPr>
              <a:t>Data: SROIE (ICDAR 2019, CC BY 4.0)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5074920" cy="2697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8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626 train / 361 test scanned receipts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8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Labels: company, date, address, total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8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Test set: fixed 100 receipts (seed 0); keys asserted disjoint from training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8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Never trained on test, external or local receipts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440680" cy="324612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 i="0">
                <a:solidFill>
                  <a:srgbClr val="047857"/>
                </a:solidFill>
                <a:latin typeface="Calibri"/>
              </a:rPr>
              <a:t>Method: LoRA on Gemma 4 E2B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38528"/>
            <a:ext cx="5074920" cy="2697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8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LoRA r = 32 on vision + language layers: 59.8 M trainable (1.15 %)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8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5 smoke + 157 steps = 1 epoch: 2.5 min on one G4 GPU, peak 13 GB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8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Image first, 560 visual tokens (525-544 measured)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8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0F172A"/>
                </a:solidFill>
                <a:latin typeface="Calibri"/>
              </a:rPr>
              <a:t>Greedy decoding, batch size 1, for every configuration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37760"/>
            <a:ext cx="2558034" cy="10515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4983480"/>
            <a:ext cx="2411730" cy="96011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Receipt photo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52394" y="5344668"/>
            <a:ext cx="201168" cy="237744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99282" y="4937760"/>
            <a:ext cx="2558034" cy="10515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2434" y="4983480"/>
            <a:ext cx="2411730" cy="96011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Gemma 4 E2B + LoRA
image first, 560 tokens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03036" y="5344668"/>
            <a:ext cx="201168" cy="237744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49924" y="4937760"/>
            <a:ext cx="2558034" cy="10515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3076" y="4983480"/>
            <a:ext cx="2411730" cy="96011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JSON: company, date,
address, total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53678" y="5344668"/>
            <a:ext cx="201168" cy="237744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00566" y="4937760"/>
            <a:ext cx="2558034" cy="10515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3718" y="4983480"/>
            <a:ext cx="2411730" cy="96011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 i="0">
                <a:solidFill>
                  <a:srgbClr val="0F172A"/>
                </a:solidFill>
                <a:latin typeface="Calibri"/>
              </a:rPr>
              <a:t>App: check, split,
add to expenses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Fine-tuning beats prompting on every field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9848"/>
            <a:ext cx="11887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69880" y="384048"/>
            <a:ext cx="1188720" cy="38404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384048"/>
            <a:ext cx="11887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</a:rPr>
              <a:t>DAND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Receipt to Expense  ·  Gemma 4 E2B + LoRA  ·  Theme 3B, Hacktoberfest Hack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4 / 13</a:t>
            </a:r>
          </a:p>
        </p:txBody>
      </p:sp>
      <p:pic>
        <p:nvPicPr>
          <p:cNvPr id="8" name="Picture 7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552862" cy="4526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03920" y="1417320"/>
            <a:ext cx="3154680" cy="141732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490472"/>
            <a:ext cx="2880360" cy="779526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47857"/>
                </a:solidFill>
                <a:latin typeface="Calibri"/>
              </a:rPr>
              <a:t>66 %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239365"/>
            <a:ext cx="288036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all four fields, normalized
prompted 37 %  ·  plain 28 %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971800"/>
            <a:ext cx="3154680" cy="141732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3044952"/>
            <a:ext cx="2880360" cy="779526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47857"/>
                </a:solidFill>
                <a:latin typeface="Calibri"/>
              </a:rPr>
              <a:t>63 %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793845"/>
            <a:ext cx="288036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all four fields, strict
prompted 17 %  ·  plain 6 %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4526280"/>
            <a:ext cx="3154680" cy="141732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4599432"/>
            <a:ext cx="2880360" cy="779526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047857"/>
                </a:solidFill>
                <a:latin typeface="Calibri"/>
              </a:rPr>
              <a:t>p = 1e-6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5348325"/>
            <a:ext cx="2880360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McNemar vs prompted:
33 receipts better, 4 worse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97880"/>
            <a:ext cx="1106424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Same 100 test receipts, same 560-token image budget, greedy batch 1. Normalized forgives case, spacing, currency and date format, so it measures reading, not formatting.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Live demo: snap a receipt, check it, split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9848"/>
            <a:ext cx="11887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941832"/>
            <a:ext cx="969264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working application built around the fine-tuned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84048"/>
            <a:ext cx="1188720" cy="38404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384048"/>
            <a:ext cx="11887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</a:rPr>
              <a:t>DAAM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Receipt to Expense  ·  Gemma 4 E2B + LoRA  ·  Theme 3B, Hacktoberfest Hack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5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977639" cy="13258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1783080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7830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1508760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Snap or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19" y="1920240"/>
            <a:ext cx="3017520" cy="8046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334155"/>
                </a:solidFill>
                <a:latin typeface="Calibri"/>
              </a:rPr>
              <a:t>phone camera, webcam or a 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59" y="1417320"/>
            <a:ext cx="3977639" cy="13258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73751" y="1783080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3751" y="17830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508760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Fine-tuned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920240"/>
            <a:ext cx="3017520" cy="8046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334155"/>
                </a:solidFill>
                <a:latin typeface="Calibri"/>
              </a:rPr>
              <a:t>editable; plain model beside it; trust check: "agree on N/4 fields, double-check X"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80360"/>
            <a:ext cx="3977639" cy="13258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3232" y="3246120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24612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19" y="2971800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Known-vendor badge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3383280"/>
            <a:ext cx="3017520" cy="8046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334155"/>
                </a:solidFill>
                <a:latin typeface="Calibri"/>
              </a:rPr>
              <a:t>vendor memory from the training labels (RAG)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59" y="2880360"/>
            <a:ext cx="3977639" cy="13258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73751" y="3246120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73751" y="324612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2971800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Split the bill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3383280"/>
            <a:ext cx="3017520" cy="8046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334155"/>
                </a:solidFill>
                <a:latin typeface="Calibri"/>
              </a:rPr>
              <a:t>equally or item by item; items auto-filled by zero-shot line items; shared by names or 'all'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343400"/>
            <a:ext cx="3977639" cy="13258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3232" y="4709160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47091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19" y="4434840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Group balances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19" y="4846320"/>
            <a:ext cx="3017520" cy="8046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334155"/>
                </a:solidFill>
                <a:latin typeface="Calibri"/>
              </a:rPr>
              <a:t>tax, service and rounding shared in proportion; settle up with the fewest payments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09159" y="4343400"/>
            <a:ext cx="3977639" cy="13258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73751" y="4709160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73751" y="47091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4434840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F172A"/>
                </a:solidFill>
                <a:latin typeface="Calibri"/>
              </a:rPr>
              <a:t>Expenses + CSV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4846320"/>
            <a:ext cx="3017520" cy="8046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334155"/>
                </a:solidFill>
                <a:latin typeface="Calibri"/>
              </a:rPr>
              <a:t>running total of expenses; download the ledger as CSV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06840" y="1417320"/>
            <a:ext cx="2651760" cy="42519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1490472"/>
            <a:ext cx="24688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i="0">
                <a:solidFill>
                  <a:srgbClr val="0F172A"/>
                </a:solidFill>
                <a:latin typeface="Calibri"/>
              </a:rPr>
              <a:t>Try it on your phone</a:t>
            </a:r>
          </a:p>
        </p:txBody>
      </p:sp>
      <p:pic>
        <p:nvPicPr>
          <p:cNvPr id="41" name="Picture 40" descr="qr_ap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920240"/>
            <a:ext cx="1920240" cy="192024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098280" y="3886200"/>
            <a:ext cx="246888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334155"/>
                </a:solidFill>
                <a:latin typeface="Calibri"/>
              </a:rPr>
              <a:t>f6753b53a276c78344.gradio.live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/>
            </a:r>
          </a:p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F59E0B"/>
                </a:solidFill>
                <a:latin typeface="Calibri"/>
              </a:rPr>
              <a:t>Judges: lend us a receipt!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Extract about 7 s (fine-tuned + plain); "please check" when a date or total does not parse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788152"/>
            <a:ext cx="11109960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47857"/>
                </a:solidFill>
                <a:latin typeface="Calibri"/>
              </a:rPr>
              <a:t>Open model: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Gemma 4 E2B (2B-class) + one LoRA adapter file: no cloud OCR, no subscription.</a:t>
            </a:r>
          </a:p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F59E0B"/>
                </a:solidFill>
                <a:latin typeface="Calibri"/>
              </a:rPr>
              <a:t>Built for students: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split equally or by item, tax shared fairly, everyone settled in the fewest payments.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Wins on new shops too, and stays safe on other receipts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9848"/>
            <a:ext cx="11887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941832"/>
            <a:ext cx="969264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where fine-tuning helps, its limits, and why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84048"/>
            <a:ext cx="1188720" cy="38404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384048"/>
            <a:ext cx="11887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</a:rPr>
              <a:t>DAND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Receipt to Expense  ·  Gemma 4 E2B + LoRA  ·  Theme 3B, Hacktoberfest Hack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6 / 13</a:t>
            </a:r>
          </a:p>
        </p:txBody>
      </p:sp>
      <p:pic>
        <p:nvPicPr>
          <p:cNvPr id="9" name="Picture 8" descr="seen_uns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5165505" cy="4023360"/>
          </a:xfrm>
          <a:prstGeom prst="rect">
            <a:avLst/>
          </a:prstGeom>
        </p:spPr>
      </p:pic>
      <p:pic>
        <p:nvPicPr>
          <p:cNvPr id="10" name="Picture 9" descr="o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98448"/>
            <a:ext cx="4933755" cy="40233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5440680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047857"/>
                </a:solidFill>
                <a:latin typeface="Calibri"/>
              </a:rPr>
              <a:t>Helps most: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totals (73 -&gt; 95 %), addresses and receipt conventions; on brand-new shops it still doubles prompting (38 vs 19 %).  </a:t>
            </a:r>
            <a:r>
              <a:rPr sz="1500" b="1" i="0">
                <a:solidFill>
                  <a:srgbClr val="F59E0B"/>
                </a:solidFill>
                <a:latin typeface="Calibri"/>
              </a:rPr>
              <a:t>Next frontier: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other countries' receipts, safe today (totals up on all 3 datasets); Indian receipts next.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Delivered: 5 / 5 required, 8 / 8 bonus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9848"/>
            <a:ext cx="11887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69880" y="384048"/>
            <a:ext cx="1188720" cy="38404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384048"/>
            <a:ext cx="11887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</a:rPr>
              <a:t>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Receipt to Expense  ·  Gemma 4 E2B + LoRA  ·  Theme 3B, Hacktoberfest Hack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7 / 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69494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463040"/>
                <a:gridCol w="33375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Bonus item</a:t>
                      </a:r>
                    </a:p>
                  </a:txBody>
                  <a:tcPr marL="64008" marR="64008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4008" marR="64008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64008" marR="64008" marT="18288" marB="18288" anchor="ctr"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Prompted baseline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37 % vs fine-tuned 66 % (p = 1e-6)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Training experiments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budget 280 / 560 / 1120, rank 8, 2 epochs, curve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Overfitting check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WildReceipt + CORD: no loss; wins on new shops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Model size (E4B)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69 vs 66 % (n.s.); 3.46 vs 3.0 s; 17.4 vs ~11 GB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Combined with RAG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vendor memory: 66 -&gt; 69 %, prompted 37 -&gt; 47 %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Publishing on HF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adapters + model card on Hugging Face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Error analysis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9 categories, fixes proposed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3B: line items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Done (zero-shot)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CORD item F1 71 -&gt; 79 %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0" y="1371600"/>
            <a:ext cx="3886200" cy="210312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444752"/>
            <a:ext cx="35661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47857"/>
                </a:solidFill>
                <a:latin typeface="Calibri"/>
              </a:rPr>
              <a:t>Required: 5 / 5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810512"/>
            <a:ext cx="361188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4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Fine-tuned model + settings (HF)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4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Dataset description (slide 3)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4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Comparison + examples (slide 4)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4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Working app, live (slide 5)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4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Helps / limits / why (slide 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3611880"/>
            <a:ext cx="3886200" cy="2331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3685032"/>
            <a:ext cx="35661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334155"/>
                </a:solidFill>
                <a:latin typeface="Calibri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050791"/>
            <a:ext cx="361188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4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Retrain at 1120 visual tokens (76 %)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4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Indian receipts + local photos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4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UPI payment requests from the settle-up list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4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On-device 4-bit E2B: receipts stay on the phone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14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0F172A"/>
                </a:solidFill>
                <a:latin typeface="Calibri"/>
              </a:rPr>
              <a:t>Calibrated trust score (totals)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What moves accuracy: resolution, not size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9848"/>
            <a:ext cx="11887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941832"/>
            <a:ext cx="969264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training experiments + model size, same 100 test receipts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84048"/>
            <a:ext cx="1188720" cy="38404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384048"/>
            <a:ext cx="11887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</a:rPr>
              <a:t>BACKUP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Receipt to Expense  ·  Gemma 4 E2B + LoRA  ·  Theme 3B, Hacktoberfest Hack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8 / 13</a:t>
            </a:r>
          </a:p>
        </p:txBody>
      </p:sp>
      <p:pic>
        <p:nvPicPr>
          <p:cNvPr id="9" name="Picture 8" descr="experi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6787113" cy="4526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452360" y="1325880"/>
            <a:ext cx="4206240" cy="1874519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344168"/>
            <a:ext cx="402336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5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1120 tokens: 76 % vs 66 % (p = 0.006)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5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Rank 8 = rank 32 (68 vs 66 %, n.s.)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5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2 epochs: 71 % (n.s.)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15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0F172A"/>
                </a:solidFill>
                <a:latin typeface="Calibri"/>
              </a:rPr>
              <a:t>E4B: 69 % (n.s.); 3.46 vs 3.0 s per receipt, 17.4 vs ~11 GB peak</a:t>
            </a:r>
          </a:p>
        </p:txBody>
      </p:sp>
      <p:pic>
        <p:nvPicPr>
          <p:cNvPr id="12" name="Picture 11" descr="lear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337560"/>
            <a:ext cx="3407141" cy="2468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5870448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Each budget arm is trained and tested at its own budget. Plain gets worse with more visual tokens (33 -&gt; 28 -&gt; 22 %) while fine-tuned gets better (61 -&gt; 66 -&gt; 76 %): an observation, not yet explained.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Trust check: which field to double-check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9848"/>
            <a:ext cx="11887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941832"/>
            <a:ext cx="969264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fine-tuned vs plain agreement, measured on the 100 SROIE test receipts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84048"/>
            <a:ext cx="1188720" cy="38404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384048"/>
            <a:ext cx="11887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</a:rPr>
              <a:t>BACKUP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Receipt to Expense  ·  Gemma 4 E2B + LoRA  ·  Theme 3B, Hacktoberfest Hack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9 / 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63040"/>
          <a:ext cx="74980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1554480"/>
                <a:gridCol w="1554480"/>
                <a:gridCol w="155448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marL="64008" marR="64008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Models agree</a:t>
                      </a:r>
                    </a:p>
                  </a:txBody>
                  <a:tcPr marL="64008" marR="64008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Fine-tuned right
when they agree</a:t>
                      </a:r>
                    </a:p>
                  </a:txBody>
                  <a:tcPr marL="64008" marR="64008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Fine-tuned right
when they differ</a:t>
                      </a:r>
                    </a:p>
                  </a:txBody>
                  <a:tcPr marL="64008" marR="64008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Errors flagged
by "differ"</a:t>
                      </a:r>
                    </a:p>
                  </a:txBody>
                  <a:tcPr marL="64008" marR="64008" marT="18288" marB="18288" anchor="ctr">
                    <a:solidFill>
                      <a:srgbClr val="0F172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F172A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76 %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97 %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75 %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F172A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99 %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0 %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F172A"/>
                          </a:solidFill>
                          <a:latin typeface="Calibri"/>
                        </a:rPr>
                        <a:t>Address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59 %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83 %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56 %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64 %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F172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72 %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96 %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93 %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0F172A"/>
                          </a:solidFill>
                          <a:latin typeface="Calibri"/>
                        </a:rPr>
                        <a:t>40 %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366760" y="1463040"/>
            <a:ext cx="3291840" cy="15087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36192"/>
            <a:ext cx="3017520" cy="829818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047857"/>
                </a:solidFill>
                <a:latin typeface="Calibri"/>
              </a:rPr>
              <a:t>29 %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338120"/>
            <a:ext cx="3017520" cy="6035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of receipts: all four fields agree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3108960"/>
            <a:ext cx="3291840" cy="15087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182112"/>
            <a:ext cx="3017520" cy="829818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47857"/>
                </a:solidFill>
                <a:latin typeface="Calibri"/>
              </a:rPr>
              <a:t>83 % vs 59 %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984040"/>
            <a:ext cx="3017520" cy="6035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all four right when they agree
vs when any field differs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83480"/>
            <a:ext cx="11109960" cy="132588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10789920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F59E0B"/>
                </a:solidFill>
                <a:latin typeface="Calibri"/>
              </a:rPr>
              <a:t>Useful but imperfect. </a:t>
            </a:r>
            <a:r>
              <a:rPr sz="1700" b="0" i="0">
                <a:solidFill>
                  <a:srgbClr val="0F172A"/>
                </a:solidFill>
                <a:latin typeface="Calibri"/>
              </a:rPr>
              <a:t>A disagreement flags 3 in 4 company errors and about 2 in 3 address errors, but only 40 % of total errors: both models can agree on the same wrong total. The app shows it as "agree on N/4 fields; double-check X".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Error analysis: most misses are one-character slips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9848"/>
            <a:ext cx="11887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941832"/>
            <a:ext cx="969264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fine-tuned model, 100 test receipts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84048"/>
            <a:ext cx="1188720" cy="38404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384048"/>
            <a:ext cx="11887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</a:rPr>
              <a:t>BACKUP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Receipt to Expense  ·  Gemma 4 E2B + LoRA  ·  Theme 3B, Hacktoberfest Hack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10 / 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57607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"/>
                <a:gridCol w="777240"/>
                <a:gridCol w="960120"/>
                <a:gridCol w="86868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64008" marR="64008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64008" marR="64008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64008" marR="64008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Address</a:t>
                      </a:r>
                    </a:p>
                  </a:txBody>
                  <a:tcPr marL="64008" marR="64008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4008" marR="64008" marT="18288" marB="18288" anchor="ctr">
                    <a:solidFill>
                      <a:srgbClr val="0F172A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correct</a:t>
                      </a:r>
                    </a:p>
                  </a:txBody>
                  <a:tcPr marL="64008" marR="64008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64008" marR="64008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64008" marR="64008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64008" marR="64008" marT="18288" marB="18288" anchor="ctr">
                    <a:solidFill>
                      <a:srgbClr val="ECFD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64008" marR="64008" marT="18288" marB="18288" anchor="ctr">
                    <a:solidFill>
                      <a:srgbClr val="ECFDF5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format only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punctuation / spacing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near miss (1-2 chars)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OCR-confusable (8/B)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extra text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truncated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rounding (&lt;= 0.05)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different value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0" y="1417320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453896"/>
            <a:ext cx="48463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47857"/>
                </a:solidFill>
                <a:latin typeface="Calibri"/>
              </a:rPr>
              <a:t>Address:  </a:t>
            </a:r>
            <a:r>
              <a:rPr sz="1450" b="0" i="0">
                <a:solidFill>
                  <a:srgbClr val="334155"/>
                </a:solidFill>
                <a:latin typeface="Calibri"/>
              </a:rPr>
              <a:t>gold  ...B1750 MASAI</a:t>
            </a:r>
          </a:p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334155"/>
                </a:solidFill>
                <a:latin typeface="Calibri"/>
              </a:rPr>
              <a:t>read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...81750 MASAI</a:t>
            </a:r>
          </a:p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label noise: 81750 is Masai's real postcode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496312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532888"/>
            <a:ext cx="48463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47857"/>
                </a:solidFill>
                <a:latin typeface="Calibri"/>
              </a:rPr>
              <a:t>Total:  </a:t>
            </a:r>
            <a:r>
              <a:rPr sz="1450" b="0" i="0">
                <a:solidFill>
                  <a:srgbClr val="334155"/>
                </a:solidFill>
                <a:latin typeface="Calibri"/>
              </a:rPr>
              <a:t>gold  7.42</a:t>
            </a:r>
          </a:p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334155"/>
                </a:solidFill>
                <a:latin typeface="Calibri"/>
              </a:rPr>
              <a:t>read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RM7.40</a:t>
            </a:r>
          </a:p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rounding adjustment printed on the receipt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575304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611880"/>
            <a:ext cx="48463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47857"/>
                </a:solidFill>
                <a:latin typeface="Calibri"/>
              </a:rPr>
              <a:t>Total:  </a:t>
            </a:r>
            <a:r>
              <a:rPr sz="1450" b="0" i="0">
                <a:solidFill>
                  <a:srgbClr val="334155"/>
                </a:solidFill>
                <a:latin typeface="Calibri"/>
              </a:rPr>
              <a:t>gold  6.40</a:t>
            </a:r>
          </a:p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334155"/>
                </a:solidFill>
                <a:latin typeface="Calibri"/>
              </a:rPr>
              <a:t>read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6.04</a:t>
            </a:r>
          </a:p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digit swap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654296"/>
            <a:ext cx="5074920" cy="9601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690872"/>
            <a:ext cx="48463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47857"/>
                </a:solidFill>
                <a:latin typeface="Calibri"/>
              </a:rPr>
              <a:t>Company:  </a:t>
            </a:r>
            <a:r>
              <a:rPr sz="1450" b="0" i="0">
                <a:solidFill>
                  <a:srgbClr val="334155"/>
                </a:solidFill>
                <a:latin typeface="Calibri"/>
              </a:rPr>
              <a:t>gold  THONG RECIPE</a:t>
            </a:r>
          </a:p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334155"/>
                </a:solidFill>
                <a:latin typeface="Calibri"/>
              </a:rPr>
              <a:t>read  </a:t>
            </a:r>
            <a:r>
              <a:rPr sz="1450" b="1" i="0">
                <a:solidFill>
                  <a:srgbClr val="0F172A"/>
                </a:solidFill>
                <a:latin typeface="Calibri"/>
              </a:rPr>
              <a:t>16G BLOCK B, ZENITH CORPORATE PARK</a:t>
            </a:r>
          </a:p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read the address line as the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47857"/>
                </a:solidFill>
                <a:latin typeface="Calibri"/>
              </a:rPr>
              <a:t>Fixes: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punctuation-tolerant address matching  ·  vendor memory (RAG)  ·  higher visual budget (1120: 76 %)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What we found under the hood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9848"/>
            <a:ext cx="11887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74519" y="941832"/>
            <a:ext cx="9692640" cy="32918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64748B"/>
                </a:solidFill>
                <a:latin typeface="Calibri"/>
              </a:rPr>
              <a:t>understanding how it works: a hidden bug caught and fixed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69880" y="384048"/>
            <a:ext cx="1188720" cy="38404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69880" y="384048"/>
            <a:ext cx="11887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</a:rPr>
              <a:t>BACKUP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Receipt to Expense  ·  Gemma 4 E2B + LoRA  ·  Theme 3B, Hacktoberfest Hack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11 / 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3566160" cy="4343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72768"/>
            <a:ext cx="320040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47857"/>
                </a:solidFill>
                <a:latin typeface="Calibri"/>
              </a:rPr>
              <a:t>A silent resolution bug (fixed)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95728"/>
            <a:ext cx="3246120" cy="3337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6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Unsloth's collator shrank receipts to 512 px and snapped them to 32 px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6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Token count identical (525 = 525), pixels not: max difference 0.68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6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Fix: images column + resize="max": difference 0.0000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463040"/>
            <a:ext cx="3566160" cy="4343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572768"/>
            <a:ext cx="320040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334155"/>
                </a:solidFill>
                <a:latin typeface="Calibri"/>
              </a:rPr>
              <a:t>Known SDPA bug: checked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395728"/>
            <a:ext cx="3246120" cy="3337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6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torch &lt;= 2.13 corrupts prompts of length 1 mod 32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6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0 / 100 of our prompts affected (both instructions)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6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Eager attention matched SDPA exactly on 3 + 3 receipts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463040"/>
            <a:ext cx="3566160" cy="4343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1572768"/>
            <a:ext cx="320040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334155"/>
                </a:solidFill>
                <a:latin typeface="Calibri"/>
              </a:rPr>
              <a:t>80 of 718 LoRA tensors never trained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395728"/>
            <a:ext cx="3246120" cy="3337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6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They stayed identical across every checkpoint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6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Our explanation (not verified): k/v projections in E2B's KV-shared layers get no gradient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600" b="1" i="0">
                <a:solidFill>
                  <a:srgbClr val="10B981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0F172A"/>
                </a:solidFill>
                <a:latin typeface="Calibri"/>
              </a:rPr>
              <a:t>Smoke run said 12.5 s/step (warm-up); real 0.96 s/step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70448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Gates passed before every run: budget applied (525-544 image tokens), pixel parity, labels contain the JSON answer, finite losses (first loss 2.56).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Bonus: vendor memory (RAG) and line items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9848"/>
            <a:ext cx="11887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69880" y="384048"/>
            <a:ext cx="1188720" cy="38404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384048"/>
            <a:ext cx="11887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</a:rPr>
              <a:t>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Receipt to Expense  ·  Gemma 4 E2B + LoRA  ·  Theme 3B, Hacktoberfest Hack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12 / 13</a:t>
            </a:r>
          </a:p>
        </p:txBody>
      </p:sp>
      <p:pic>
        <p:nvPicPr>
          <p:cNvPr id="8" name="Picture 7" descr="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168106" cy="3886200"/>
          </a:xfrm>
          <a:prstGeom prst="rect">
            <a:avLst/>
          </a:prstGeom>
        </p:spPr>
      </p:pic>
      <p:pic>
        <p:nvPicPr>
          <p:cNvPr id="9" name="Picture 8" descr="lineite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578730" cy="3886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349240"/>
            <a:ext cx="54406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276 shops from the training labels only; match threshold 0.85 fixed in advance. Fine-tuning had already learned most of what retrieval adds.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5349240"/>
            <a:ext cx="53492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334155"/>
                </a:solidFill>
                <a:latin typeface="Calibri"/>
              </a:rPr>
              <a:t>Zero-shot: SROIE has no line-item labels, so we scored on CORD. No forgetting; the fine-tuned model writes names in capitals and once shifted prices by a row.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72A"/>
                </a:solidFill>
                <a:latin typeface="Calibri"/>
              </a:rPr>
              <a:t>Appendix: settings and reproducibility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9848"/>
            <a:ext cx="118872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69880" y="384048"/>
            <a:ext cx="1188720" cy="384048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587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384048"/>
            <a:ext cx="118872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334155"/>
                </a:solidFill>
                <a:latin typeface="Calibr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Receipt to Expense  ·  Gemma 4 E2B + LoRA  ·  Theme 3B, Hacktoberfest Hack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13 / 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71600"/>
          <a:ext cx="111099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8458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64008" marR="64008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64008" marR="64008" marT="18288" marB="18288" anchor="ctr"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Base model / load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unsloth/gemma-4-E2B-it, 16-bit LoRA (load_in_4bit = False)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LoRA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r 32, alpha 32, dropout 0; vision + language, attention + MLP; 59.8 M / 5.18 B (1.15 %)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adamw_8bit, lr 2e-4, cosine, warm-up 0.03, weight decay 0.001, grad norm 0.3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Batch / steps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1 x grad-accum 4; 5 smoke + 157 steps (1 epoch over 626 receipts)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Visual budget / prompt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max_soft_tokens 560 (525-544 tokens); image first, then instruction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Instruction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Extract the company, date, address and total from this receipt. Reply with JSON only.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Decoding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greedy, batch size 1, max_new_tokens 256 (every configuration)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Test set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100 of 361 SROIE test receipts, random.Random(0); keys in test_keys.json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Hardware / time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RTX PRO 6000 Blackwell (Colab G4, 95 GB); 2.5 min training, peak 13.0 GB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Speed (idle GPU)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plain 2.4 s, prompted 2.0 s, fine-tuned 3.0 s per receipt</a:t>
                      </a:r>
                    </a:p>
                  </a:txBody>
                  <a:tcPr marL="64008" marR="64008" marT="18288" marB="18288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Software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torch 2.11 cu130, transformers 5.5.0, unsloth 2026.10.8, trl 1.16.0, peft 0.21.2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33872"/>
            <a:ext cx="11109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047857"/>
                </a:solidFill>
                <a:latin typeface="Calibri"/>
              </a:rPr>
              <a:t>Compute: </a:t>
            </a:r>
            <a:r>
              <a:rPr sz="1300" b="0" i="0">
                <a:solidFill>
                  <a:srgbClr val="334155"/>
                </a:solidFill>
                <a:latin typeface="Calibri"/>
              </a:rPr>
              <a:t>trained on a Colab G4 for speed (2.5 min). Unsloth's docs put E2B LoRA at about 8-10 GB, so the recipe should also fit a free T4, more slowly; we did not test this.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