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Hold up a real receipt. 'Riya's hostel flat splits groceries every week; the receipts end up in a WhatsApp photo pile and someone types them in. We built Receipt to Expense: our fine-tuned open Gemma 4 reads the photo, logs the expense and splits the bill. It reads ten times more receipts perfectly than the same model without our fine-tune.' (Swap in a real story from the team if you have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0:15-0:30. 'Expense apps exist, but they are closed, paid, cloud OCR products for company cards, and they never tell you which field to trust. Most receipt hacks chain OCR plus an LLM. Ours is one fine-tuned open model, photo to fields, built for students who share bills.'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0:30-0:45. 'Three steps. The photo goes straight in, image first, no OCR. A small open Gemma 4 with our LoRA adapter, trained on public labelled receipts, reads the four fields. Then you log or split. And what moved accuracy most: giving the model twice the image resolution beat using a model twice the size.'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0:45-1:05. 'Same model, same settings, a hundred receipts it never saw. Without our fine-tune it reads 7 of 100 receipts perfectly, all four fields exact. A carefully engineered prompt gets 17. Our fine-tune gets 70. Ten times. McNemar p is below one in ten billion.' (For questions: the engineered prompt was measured at the 560 budget; at 1120 the plain model scores lower, not higher, so the comparison is conservative.)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1:05-1:15. 'Field by field, our fine-tune removes three quarters of the reading errors: 70 percent of fields right becomes 92. Totals, the field you actually pay, are right 98 percent of the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1:15-1:25. 'Could we just write a better prompt? We tried: a carefully engineered prompt gets 37 percent of receipts fully right; our fine-tune gets 76. Fine-tuning doubles it. Now let's try yours.'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1:25-2:35. Live. Do one warm-up scan before the talk. 'Could one of you lend us a receipt?' Scan it. 'Merchant, date, address and total, plus a trust check that says which field to double-check.' Press Split this bill: 'Split equally or by item; tax is shared fairly; everyone settles up in the fewest payments.' Add to expenses, download the CSV. If anything stalls for more than 15 seconds, switch to the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2:35-3:00. 'Everything required is delivered, plus all eight bonus items; the adapters and model card are on Hugging Face. It learns receipt layouts fast; next we train on Indian receipts, add UPI requests straight from the split, and run it on-device so receipts never leave the phone. Thank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questions about generalisation.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questions about method. The 1120 version is the best of 5 configurations on the same test 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dataset description and settings (required deliverables).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5836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THEME 3B  ·  HACKTOBERFEST HACK DAY  ·  24 OCT 2026</a:t>
            </a:r>
          </a:p>
        </p:txBody>
      </p:sp>
      <p:sp>
        <p:nvSpPr>
          <p:cNvPr id="3" name="TextBox 2"/>
          <p:cNvSpPr txBox="1"/>
          <p:nvPr/>
        </p:nvSpPr>
        <p:spPr>
          <a:xfrm>
            <a:off x="685800" y="960120"/>
            <a:ext cx="6311722" cy="1463040"/>
          </a:xfrm>
          <a:prstGeom prst="rect">
            <a:avLst/>
          </a:prstGeom>
          <a:noFill/>
        </p:spPr>
        <p:txBody>
          <a:bodyPr wrap="square" anchor="t" lIns="0" rIns="0" tIns="0" bIns="0">
            <a:spAutoFit/>
          </a:bodyPr>
          <a:lstStyle/>
          <a:p>
            <a:pPr algn="l">
              <a:lnSpc>
                <a:spcPct val="95000"/>
              </a:lnSpc>
            </a:pPr>
            <a:r>
              <a:rPr sz="4400" b="1">
                <a:solidFill>
                  <a:srgbClr val="0B0F19"/>
                </a:solidFill>
                <a:latin typeface="Segoe UI"/>
              </a:rPr>
              <a:t>Receipt to Expense.</a:t>
            </a:r>
          </a:p>
        </p:txBody>
      </p:sp>
      <p:sp>
        <p:nvSpPr>
          <p:cNvPr id="4" name="TextBox 3"/>
          <p:cNvSpPr txBox="1"/>
          <p:nvPr/>
        </p:nvSpPr>
        <p:spPr>
          <a:xfrm>
            <a:off x="685800" y="1847088"/>
            <a:ext cx="5410047" cy="1097280"/>
          </a:xfrm>
          <a:prstGeom prst="rect">
            <a:avLst/>
          </a:prstGeom>
          <a:noFill/>
        </p:spPr>
        <p:txBody>
          <a:bodyPr wrap="square" anchor="t" lIns="0" rIns="0" tIns="0" bIns="0">
            <a:spAutoFit/>
          </a:bodyPr>
          <a:lstStyle/>
          <a:p>
            <a:pPr algn="l">
              <a:lnSpc>
                <a:spcPct val="115000"/>
              </a:lnSpc>
            </a:pPr>
            <a:r>
              <a:rPr sz="1800" b="0">
                <a:solidFill>
                  <a:srgbClr val="374151"/>
                </a:solidFill>
                <a:latin typeface="Segoe UI"/>
              </a:rPr>
              <a:t>Snap a receipt. Our fine-tuned Gemma 4 reads it, logs the expense and splits the bill with friends.</a:t>
            </a:r>
          </a:p>
        </p:txBody>
      </p:sp>
      <p:sp>
        <p:nvSpPr>
          <p:cNvPr id="5" name="TextBox 4"/>
          <p:cNvSpPr txBox="1"/>
          <p:nvPr/>
        </p:nvSpPr>
        <p:spPr>
          <a:xfrm>
            <a:off x="685800" y="2926080"/>
            <a:ext cx="5590382" cy="1097280"/>
          </a:xfrm>
          <a:prstGeom prst="rect">
            <a:avLst/>
          </a:prstGeom>
          <a:noFill/>
        </p:spPr>
        <p:txBody>
          <a:bodyPr wrap="square" anchor="t" lIns="0" rIns="0" tIns="0" bIns="0">
            <a:spAutoFit/>
          </a:bodyPr>
          <a:lstStyle/>
          <a:p>
            <a:pPr algn="l">
              <a:lnSpc>
                <a:spcPct val="130000"/>
              </a:lnSpc>
            </a:pPr>
            <a:r>
              <a:rPr sz="1350" b="1">
                <a:solidFill>
                  <a:srgbClr val="0B0F19"/>
                </a:solidFill>
                <a:latin typeface="Segoe UI"/>
              </a:rPr>
              <a:t>Team Come_Join_Qarc</a:t>
            </a:r>
            <a:r>
              <a:rPr sz="1350" b="0">
                <a:solidFill>
                  <a:srgbClr val="6B7280"/>
                </a:solidFill>
                <a:latin typeface="Segoe UI"/>
              </a:rPr>
              <a:t>  ·  SSIT Tumkur</a:t>
            </a:r>
          </a:p>
          <a:p>
            <a:pPr algn="l">
              <a:lnSpc>
                <a:spcPct val="130000"/>
              </a:lnSpc>
            </a:pPr>
            <a:r>
              <a:rPr sz="1200" b="0">
                <a:solidFill>
                  <a:srgbClr val="6B7280"/>
                </a:solidFill>
                <a:latin typeface="Segoe UI"/>
              </a:rPr>
              <a:t>Lead: Mohammed Owais</a:t>
            </a:r>
          </a:p>
          <a:p>
            <a:pPr algn="l">
              <a:lnSpc>
                <a:spcPct val="130000"/>
              </a:lnSpc>
            </a:pPr>
            <a:r>
              <a:rPr sz="1200" b="0">
                <a:solidFill>
                  <a:srgbClr val="6B7280"/>
                </a:solidFill>
                <a:latin typeface="Segoe UI"/>
              </a:rPr>
              <a:t>Members: Mohammed Muzakkir, Mohammad Tariq Afzal, Mohammed Ayaan, Mohammed Younus</a:t>
            </a:r>
          </a:p>
        </p:txBody>
      </p:sp>
      <p:cxnSp>
        <p:nvCxnSpPr>
          <p:cNvPr id="6" name="Connector 5"/>
          <p:cNvCxnSpPr/>
          <p:nvPr/>
        </p:nvCxnSpPr>
        <p:spPr>
          <a:xfrm>
            <a:off x="685800" y="4343400"/>
            <a:ext cx="5951052" cy="0"/>
          </a:xfrm>
          <a:prstGeom prst="line">
            <a:avLst/>
          </a:prstGeom>
          <a:ln w="9525">
            <a:solidFill>
              <a:srgbClr val="E5E7EB"/>
            </a:solidFill>
          </a:ln>
        </p:spPr>
      </p:cxnSp>
      <p:sp>
        <p:nvSpPr>
          <p:cNvPr id="7" name="TextBox 6"/>
          <p:cNvSpPr txBox="1"/>
          <p:nvPr/>
        </p:nvSpPr>
        <p:spPr>
          <a:xfrm>
            <a:off x="685800" y="4498848"/>
            <a:ext cx="5951052" cy="1280160"/>
          </a:xfrm>
          <a:prstGeom prst="rect">
            <a:avLst/>
          </a:prstGeom>
          <a:noFill/>
        </p:spPr>
        <p:txBody>
          <a:bodyPr wrap="square" anchor="t" lIns="0" rIns="0" tIns="0" bIns="0">
            <a:spAutoFit/>
          </a:bodyPr>
          <a:lstStyle/>
          <a:p>
            <a:pPr algn="l">
              <a:lnSpc>
                <a:spcPct val="105000"/>
              </a:lnSpc>
            </a:pPr>
            <a:r>
              <a:rPr sz="4400" b="1">
                <a:solidFill>
                  <a:srgbClr val="0F9F6E"/>
                </a:solidFill>
                <a:latin typeface="Segoe UI"/>
              </a:rPr>
              <a:t>10x</a:t>
            </a:r>
          </a:p>
          <a:p>
            <a:pPr algn="l">
              <a:lnSpc>
                <a:spcPct val="105000"/>
              </a:lnSpc>
            </a:pPr>
            <a:r>
              <a:rPr sz="1600" b="0">
                <a:solidFill>
                  <a:srgbClr val="374151"/>
                </a:solidFill>
                <a:latin typeface="Segoe UI"/>
              </a:rPr>
              <a:t>more receipts read perfectly than the base model</a:t>
            </a:r>
          </a:p>
        </p:txBody>
      </p:sp>
      <p:sp>
        <p:nvSpPr>
          <p:cNvPr id="8" name="Rectangle 7"/>
          <p:cNvSpPr/>
          <p:nvPr/>
        </p:nvSpPr>
        <p:spPr>
          <a:xfrm>
            <a:off x="7042605" y="713232"/>
            <a:ext cx="4463289" cy="4404387"/>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42605" y="713232"/>
            <a:ext cx="4463289" cy="2743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88909" y="804672"/>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44357" y="804672"/>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99805" y="804672"/>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rop_pro_ui_scan.png"/>
          <p:cNvPicPr>
            <a:picLocks noChangeAspect="1"/>
          </p:cNvPicPr>
          <p:nvPr/>
        </p:nvPicPr>
        <p:blipFill>
          <a:blip r:embed="rId2"/>
          <a:stretch>
            <a:fillRect/>
          </a:stretch>
        </p:blipFill>
        <p:spPr>
          <a:xfrm>
            <a:off x="7042605" y="987552"/>
            <a:ext cx="4463289" cy="4130068"/>
          </a:xfrm>
          <a:prstGeom prst="rect">
            <a:avLst/>
          </a:prstGeom>
        </p:spPr>
      </p:pic>
      <p:sp>
        <p:nvSpPr>
          <p:cNvPr id="14" name="TextBox 13"/>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15" name="TextBox 14"/>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SAAM  ·  BHED  —  THE PROBLEM</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Students still type receipts in by hand.</a:t>
            </a:r>
          </a:p>
        </p:txBody>
      </p:sp>
      <p:cxnSp>
        <p:nvCxnSpPr>
          <p:cNvPr id="4" name="Connector 3"/>
          <p:cNvCxnSpPr/>
          <p:nvPr/>
        </p:nvCxnSpPr>
        <p:spPr>
          <a:xfrm>
            <a:off x="685800" y="1828800"/>
            <a:ext cx="10820095" cy="0"/>
          </a:xfrm>
          <a:prstGeom prst="line">
            <a:avLst/>
          </a:prstGeom>
          <a:ln w="9525">
            <a:solidFill>
              <a:srgbClr val="E5E7EB"/>
            </a:solidFill>
          </a:ln>
        </p:spPr>
      </p:cxnSp>
      <p:sp>
        <p:nvSpPr>
          <p:cNvPr id="5" name="TextBox 4"/>
          <p:cNvSpPr txBox="1"/>
          <p:nvPr/>
        </p:nvSpPr>
        <p:spPr>
          <a:xfrm>
            <a:off x="685800" y="2103120"/>
            <a:ext cx="5049377" cy="457200"/>
          </a:xfrm>
          <a:prstGeom prst="rect">
            <a:avLst/>
          </a:prstGeom>
          <a:noFill/>
        </p:spPr>
        <p:txBody>
          <a:bodyPr wrap="square" anchor="t" lIns="0" rIns="0" tIns="0" bIns="0">
            <a:spAutoFit/>
          </a:bodyPr>
          <a:lstStyle/>
          <a:p>
            <a:pPr algn="l">
              <a:lnSpc>
                <a:spcPct val="108000"/>
              </a:lnSpc>
            </a:pPr>
            <a:r>
              <a:rPr sz="2200" b="1">
                <a:solidFill>
                  <a:srgbClr val="0B0F19"/>
                </a:solidFill>
                <a:latin typeface="Segoe UI"/>
              </a:rPr>
              <a:t>Expense apps today</a:t>
            </a:r>
          </a:p>
        </p:txBody>
      </p:sp>
      <p:cxnSp>
        <p:nvCxnSpPr>
          <p:cNvPr id="6" name="Connector 5"/>
          <p:cNvCxnSpPr/>
          <p:nvPr/>
        </p:nvCxnSpPr>
        <p:spPr>
          <a:xfrm>
            <a:off x="685800" y="2679191"/>
            <a:ext cx="4959210" cy="0"/>
          </a:xfrm>
          <a:prstGeom prst="line">
            <a:avLst/>
          </a:prstGeom>
          <a:ln w="9525">
            <a:solidFill>
              <a:srgbClr val="E5E7EB"/>
            </a:solidFill>
          </a:ln>
        </p:spPr>
      </p:cxnSp>
      <p:sp>
        <p:nvSpPr>
          <p:cNvPr id="7" name="TextBox 6"/>
          <p:cNvSpPr txBox="1"/>
          <p:nvPr/>
        </p:nvSpPr>
        <p:spPr>
          <a:xfrm>
            <a:off x="685800" y="2788920"/>
            <a:ext cx="4959210" cy="457200"/>
          </a:xfrm>
          <a:prstGeom prst="rect">
            <a:avLst/>
          </a:prstGeom>
          <a:noFill/>
        </p:spPr>
        <p:txBody>
          <a:bodyPr wrap="square" anchor="t" lIns="0" rIns="0" tIns="0" bIns="0">
            <a:spAutoFit/>
          </a:bodyPr>
          <a:lstStyle/>
          <a:p>
            <a:pPr algn="l">
              <a:lnSpc>
                <a:spcPct val="108000"/>
              </a:lnSpc>
            </a:pPr>
            <a:r>
              <a:rPr sz="1600" b="0">
                <a:solidFill>
                  <a:srgbClr val="374151"/>
                </a:solidFill>
                <a:latin typeface="Segoe UI"/>
              </a:rPr>
              <a:t>Closed, paid, cloud OCR</a:t>
            </a:r>
          </a:p>
        </p:txBody>
      </p:sp>
      <p:cxnSp>
        <p:nvCxnSpPr>
          <p:cNvPr id="8" name="Connector 7"/>
          <p:cNvCxnSpPr/>
          <p:nvPr/>
        </p:nvCxnSpPr>
        <p:spPr>
          <a:xfrm>
            <a:off x="685800" y="3337559"/>
            <a:ext cx="4959210" cy="0"/>
          </a:xfrm>
          <a:prstGeom prst="line">
            <a:avLst/>
          </a:prstGeom>
          <a:ln w="9525">
            <a:solidFill>
              <a:srgbClr val="E5E7EB"/>
            </a:solidFill>
          </a:ln>
        </p:spPr>
      </p:cxnSp>
      <p:sp>
        <p:nvSpPr>
          <p:cNvPr id="9" name="TextBox 8"/>
          <p:cNvSpPr txBox="1"/>
          <p:nvPr/>
        </p:nvSpPr>
        <p:spPr>
          <a:xfrm>
            <a:off x="685800" y="3447287"/>
            <a:ext cx="4959210" cy="457200"/>
          </a:xfrm>
          <a:prstGeom prst="rect">
            <a:avLst/>
          </a:prstGeom>
          <a:noFill/>
        </p:spPr>
        <p:txBody>
          <a:bodyPr wrap="square" anchor="t" lIns="0" rIns="0" tIns="0" bIns="0">
            <a:spAutoFit/>
          </a:bodyPr>
          <a:lstStyle/>
          <a:p>
            <a:pPr algn="l">
              <a:lnSpc>
                <a:spcPct val="108000"/>
              </a:lnSpc>
            </a:pPr>
            <a:r>
              <a:rPr sz="1600" b="0">
                <a:solidFill>
                  <a:srgbClr val="374151"/>
                </a:solidFill>
                <a:latin typeface="Segoe UI"/>
              </a:rPr>
              <a:t>Built for company cards</a:t>
            </a:r>
          </a:p>
        </p:txBody>
      </p:sp>
      <p:cxnSp>
        <p:nvCxnSpPr>
          <p:cNvPr id="10" name="Connector 9"/>
          <p:cNvCxnSpPr/>
          <p:nvPr/>
        </p:nvCxnSpPr>
        <p:spPr>
          <a:xfrm>
            <a:off x="685800" y="3995928"/>
            <a:ext cx="4959210" cy="0"/>
          </a:xfrm>
          <a:prstGeom prst="line">
            <a:avLst/>
          </a:prstGeom>
          <a:ln w="9525">
            <a:solidFill>
              <a:srgbClr val="E5E7EB"/>
            </a:solidFill>
          </a:ln>
        </p:spPr>
      </p:cxnSp>
      <p:sp>
        <p:nvSpPr>
          <p:cNvPr id="11" name="TextBox 10"/>
          <p:cNvSpPr txBox="1"/>
          <p:nvPr/>
        </p:nvSpPr>
        <p:spPr>
          <a:xfrm>
            <a:off x="685800" y="4105656"/>
            <a:ext cx="4959210" cy="457200"/>
          </a:xfrm>
          <a:prstGeom prst="rect">
            <a:avLst/>
          </a:prstGeom>
          <a:noFill/>
        </p:spPr>
        <p:txBody>
          <a:bodyPr wrap="square" anchor="t" lIns="0" rIns="0" tIns="0" bIns="0">
            <a:spAutoFit/>
          </a:bodyPr>
          <a:lstStyle/>
          <a:p>
            <a:pPr algn="l">
              <a:lnSpc>
                <a:spcPct val="108000"/>
              </a:lnSpc>
            </a:pPr>
            <a:r>
              <a:rPr sz="1600" b="0">
                <a:solidFill>
                  <a:srgbClr val="374151"/>
                </a:solidFill>
                <a:latin typeface="Segoe UI"/>
              </a:rPr>
              <a:t>Never say which field to trust</a:t>
            </a:r>
          </a:p>
        </p:txBody>
      </p:sp>
      <p:cxnSp>
        <p:nvCxnSpPr>
          <p:cNvPr id="12" name="Connector 11"/>
          <p:cNvCxnSpPr/>
          <p:nvPr/>
        </p:nvCxnSpPr>
        <p:spPr>
          <a:xfrm>
            <a:off x="5821527" y="2103120"/>
            <a:ext cx="0" cy="2743200"/>
          </a:xfrm>
          <a:prstGeom prst="line">
            <a:avLst/>
          </a:prstGeom>
          <a:ln w="9525">
            <a:solidFill>
              <a:srgbClr val="E5E7EB"/>
            </a:solidFill>
          </a:ln>
        </p:spPr>
      </p:cxnSp>
      <p:sp>
        <p:nvSpPr>
          <p:cNvPr id="13" name="TextBox 12"/>
          <p:cNvSpPr txBox="1"/>
          <p:nvPr/>
        </p:nvSpPr>
        <p:spPr>
          <a:xfrm>
            <a:off x="6095847" y="2103120"/>
            <a:ext cx="5049377" cy="457200"/>
          </a:xfrm>
          <a:prstGeom prst="rect">
            <a:avLst/>
          </a:prstGeom>
          <a:noFill/>
        </p:spPr>
        <p:txBody>
          <a:bodyPr wrap="square" anchor="t" lIns="0" rIns="0" tIns="0" bIns="0">
            <a:spAutoFit/>
          </a:bodyPr>
          <a:lstStyle/>
          <a:p>
            <a:pPr algn="l">
              <a:lnSpc>
                <a:spcPct val="108000"/>
              </a:lnSpc>
            </a:pPr>
            <a:r>
              <a:rPr sz="2200" b="1">
                <a:solidFill>
                  <a:srgbClr val="0F9F6E"/>
                </a:solidFill>
                <a:latin typeface="Segoe UI"/>
              </a:rPr>
              <a:t>Receipt to Expense</a:t>
            </a:r>
          </a:p>
        </p:txBody>
      </p:sp>
      <p:cxnSp>
        <p:nvCxnSpPr>
          <p:cNvPr id="14" name="Connector 13"/>
          <p:cNvCxnSpPr/>
          <p:nvPr/>
        </p:nvCxnSpPr>
        <p:spPr>
          <a:xfrm>
            <a:off x="6095847" y="2679191"/>
            <a:ext cx="4959210" cy="0"/>
          </a:xfrm>
          <a:prstGeom prst="line">
            <a:avLst/>
          </a:prstGeom>
          <a:ln w="9525">
            <a:solidFill>
              <a:srgbClr val="E5E7EB"/>
            </a:solidFill>
          </a:ln>
        </p:spPr>
      </p:cxnSp>
      <p:sp>
        <p:nvSpPr>
          <p:cNvPr id="15" name="TextBox 14"/>
          <p:cNvSpPr txBox="1"/>
          <p:nvPr/>
        </p:nvSpPr>
        <p:spPr>
          <a:xfrm>
            <a:off x="6095847" y="2788920"/>
            <a:ext cx="4959210" cy="457200"/>
          </a:xfrm>
          <a:prstGeom prst="rect">
            <a:avLst/>
          </a:prstGeom>
          <a:noFill/>
        </p:spPr>
        <p:txBody>
          <a:bodyPr wrap="square" anchor="t" lIns="0" rIns="0" tIns="0" bIns="0">
            <a:spAutoFit/>
          </a:bodyPr>
          <a:lstStyle/>
          <a:p>
            <a:pPr algn="l">
              <a:lnSpc>
                <a:spcPct val="108000"/>
              </a:lnSpc>
            </a:pPr>
            <a:r>
              <a:rPr sz="1600" b="0">
                <a:solidFill>
                  <a:srgbClr val="0B0F19"/>
                </a:solidFill>
                <a:latin typeface="Segoe UI"/>
              </a:rPr>
              <a:t>Open model + one small adapter file</a:t>
            </a:r>
          </a:p>
        </p:txBody>
      </p:sp>
      <p:cxnSp>
        <p:nvCxnSpPr>
          <p:cNvPr id="16" name="Connector 15"/>
          <p:cNvCxnSpPr/>
          <p:nvPr/>
        </p:nvCxnSpPr>
        <p:spPr>
          <a:xfrm>
            <a:off x="6095847" y="3337559"/>
            <a:ext cx="4959210" cy="0"/>
          </a:xfrm>
          <a:prstGeom prst="line">
            <a:avLst/>
          </a:prstGeom>
          <a:ln w="9525">
            <a:solidFill>
              <a:srgbClr val="E5E7EB"/>
            </a:solidFill>
          </a:ln>
        </p:spPr>
      </p:cxnSp>
      <p:sp>
        <p:nvSpPr>
          <p:cNvPr id="17" name="TextBox 16"/>
          <p:cNvSpPr txBox="1"/>
          <p:nvPr/>
        </p:nvSpPr>
        <p:spPr>
          <a:xfrm>
            <a:off x="6095847" y="3447287"/>
            <a:ext cx="4959210" cy="457200"/>
          </a:xfrm>
          <a:prstGeom prst="rect">
            <a:avLst/>
          </a:prstGeom>
          <a:noFill/>
        </p:spPr>
        <p:txBody>
          <a:bodyPr wrap="square" anchor="t" lIns="0" rIns="0" tIns="0" bIns="0">
            <a:spAutoFit/>
          </a:bodyPr>
          <a:lstStyle/>
          <a:p>
            <a:pPr algn="l">
              <a:lnSpc>
                <a:spcPct val="108000"/>
              </a:lnSpc>
            </a:pPr>
            <a:r>
              <a:rPr sz="1600" b="0">
                <a:solidFill>
                  <a:srgbClr val="0B0F19"/>
                </a:solidFill>
                <a:latin typeface="Segoe UI"/>
              </a:rPr>
              <a:t>One model from photo to fields, no OCR step</a:t>
            </a:r>
          </a:p>
        </p:txBody>
      </p:sp>
      <p:cxnSp>
        <p:nvCxnSpPr>
          <p:cNvPr id="18" name="Connector 17"/>
          <p:cNvCxnSpPr/>
          <p:nvPr/>
        </p:nvCxnSpPr>
        <p:spPr>
          <a:xfrm>
            <a:off x="6095847" y="3995928"/>
            <a:ext cx="4959210" cy="0"/>
          </a:xfrm>
          <a:prstGeom prst="line">
            <a:avLst/>
          </a:prstGeom>
          <a:ln w="9525">
            <a:solidFill>
              <a:srgbClr val="E5E7EB"/>
            </a:solidFill>
          </a:ln>
        </p:spPr>
      </p:cxnSp>
      <p:sp>
        <p:nvSpPr>
          <p:cNvPr id="19" name="TextBox 18"/>
          <p:cNvSpPr txBox="1"/>
          <p:nvPr/>
        </p:nvSpPr>
        <p:spPr>
          <a:xfrm>
            <a:off x="6095847" y="4105656"/>
            <a:ext cx="4959210" cy="457200"/>
          </a:xfrm>
          <a:prstGeom prst="rect">
            <a:avLst/>
          </a:prstGeom>
          <a:noFill/>
        </p:spPr>
        <p:txBody>
          <a:bodyPr wrap="square" anchor="t" lIns="0" rIns="0" tIns="0" bIns="0">
            <a:spAutoFit/>
          </a:bodyPr>
          <a:lstStyle/>
          <a:p>
            <a:pPr algn="l">
              <a:lnSpc>
                <a:spcPct val="108000"/>
              </a:lnSpc>
            </a:pPr>
            <a:r>
              <a:rPr sz="1600" b="0">
                <a:solidFill>
                  <a:srgbClr val="0B0F19"/>
                </a:solidFill>
                <a:latin typeface="Segoe UI"/>
              </a:rPr>
              <a:t>Says what to double-check, then splits the bill</a:t>
            </a:r>
          </a:p>
        </p:txBody>
      </p:sp>
      <p:sp>
        <p:nvSpPr>
          <p:cNvPr id="20" name="TextBox 19"/>
          <p:cNvSpPr txBox="1"/>
          <p:nvPr/>
        </p:nvSpPr>
        <p:spPr>
          <a:xfrm>
            <a:off x="685800" y="5257800"/>
            <a:ext cx="10820095" cy="640080"/>
          </a:xfrm>
          <a:prstGeom prst="rect">
            <a:avLst/>
          </a:prstGeom>
          <a:noFill/>
        </p:spPr>
        <p:txBody>
          <a:bodyPr wrap="square" anchor="t" lIns="0" rIns="0" tIns="0" bIns="0">
            <a:spAutoFit/>
          </a:bodyPr>
          <a:lstStyle/>
          <a:p>
            <a:pPr algn="l">
              <a:lnSpc>
                <a:spcPct val="108000"/>
              </a:lnSpc>
            </a:pPr>
            <a:r>
              <a:rPr sz="1600" b="0">
                <a:solidFill>
                  <a:srgbClr val="6B7280"/>
                </a:solidFill>
                <a:latin typeface="Segoe UI"/>
              </a:rPr>
              <a:t>For </a:t>
            </a:r>
            <a:r>
              <a:rPr sz="1600" b="0">
                <a:solidFill>
                  <a:srgbClr val="0B0F19"/>
                </a:solidFill>
                <a:latin typeface="Segoe UI"/>
              </a:rPr>
              <a:t>hostel flats splitting groceries, clubs reimbursing fest bills and small shops logging purchases.</a:t>
            </a:r>
          </a:p>
        </p:txBody>
      </p:sp>
      <p:sp>
        <p:nvSpPr>
          <p:cNvPr id="21" name="TextBox 20"/>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22" name="TextBox 21"/>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HOW IT WORKS</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One open model, from photo to expense.</a:t>
            </a:r>
          </a:p>
        </p:txBody>
      </p:sp>
      <p:cxnSp>
        <p:nvCxnSpPr>
          <p:cNvPr id="4" name="Connector 3"/>
          <p:cNvCxnSpPr/>
          <p:nvPr/>
        </p:nvCxnSpPr>
        <p:spPr>
          <a:xfrm>
            <a:off x="685800" y="2057400"/>
            <a:ext cx="3336196" cy="0"/>
          </a:xfrm>
          <a:prstGeom prst="line">
            <a:avLst/>
          </a:prstGeom>
          <a:ln w="12700">
            <a:solidFill>
              <a:srgbClr val="0B0F19"/>
            </a:solidFill>
          </a:ln>
        </p:spPr>
      </p:cxnSp>
      <p:sp>
        <p:nvSpPr>
          <p:cNvPr id="5" name="TextBox 4"/>
          <p:cNvSpPr txBox="1"/>
          <p:nvPr/>
        </p:nvSpPr>
        <p:spPr>
          <a:xfrm>
            <a:off x="685800"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01</a:t>
            </a:r>
          </a:p>
        </p:txBody>
      </p:sp>
      <p:sp>
        <p:nvSpPr>
          <p:cNvPr id="6" name="TextBox 5"/>
          <p:cNvSpPr txBox="1"/>
          <p:nvPr/>
        </p:nvSpPr>
        <p:spPr>
          <a:xfrm>
            <a:off x="685800" y="2560320"/>
            <a:ext cx="3246028" cy="457200"/>
          </a:xfrm>
          <a:prstGeom prst="rect">
            <a:avLst/>
          </a:prstGeom>
          <a:noFill/>
        </p:spPr>
        <p:txBody>
          <a:bodyPr wrap="square" anchor="t" lIns="0" rIns="0" tIns="0" bIns="0">
            <a:spAutoFit/>
          </a:bodyPr>
          <a:lstStyle/>
          <a:p>
            <a:pPr algn="l">
              <a:lnSpc>
                <a:spcPct val="108000"/>
              </a:lnSpc>
            </a:pPr>
            <a:r>
              <a:rPr sz="2200" b="1">
                <a:solidFill>
                  <a:srgbClr val="0B0F19"/>
                </a:solidFill>
                <a:latin typeface="Segoe UI"/>
              </a:rPr>
              <a:t>Snap</a:t>
            </a:r>
          </a:p>
        </p:txBody>
      </p:sp>
      <p:sp>
        <p:nvSpPr>
          <p:cNvPr id="7" name="TextBox 6"/>
          <p:cNvSpPr txBox="1"/>
          <p:nvPr/>
        </p:nvSpPr>
        <p:spPr>
          <a:xfrm>
            <a:off x="685800" y="3063240"/>
            <a:ext cx="3246028" cy="1463040"/>
          </a:xfrm>
          <a:prstGeom prst="rect">
            <a:avLst/>
          </a:prstGeom>
          <a:noFill/>
        </p:spPr>
        <p:txBody>
          <a:bodyPr wrap="square" anchor="t" lIns="0" rIns="0" tIns="0" bIns="0">
            <a:spAutoFit/>
          </a:bodyPr>
          <a:lstStyle/>
          <a:p>
            <a:pPr algn="l">
              <a:lnSpc>
                <a:spcPct val="120000"/>
              </a:lnSpc>
            </a:pPr>
            <a:r>
              <a:rPr sz="1500" b="0">
                <a:solidFill>
                  <a:srgbClr val="374151"/>
                </a:solidFill>
                <a:latin typeface="Segoe UI"/>
              </a:rPr>
              <a:t>A phone photo goes straight to the model, image first, at high resolution. No OCR step.</a:t>
            </a:r>
          </a:p>
        </p:txBody>
      </p:sp>
      <p:cxnSp>
        <p:nvCxnSpPr>
          <p:cNvPr id="8" name="Connector 7"/>
          <p:cNvCxnSpPr/>
          <p:nvPr/>
        </p:nvCxnSpPr>
        <p:spPr>
          <a:xfrm>
            <a:off x="4292498" y="2057400"/>
            <a:ext cx="3336196" cy="0"/>
          </a:xfrm>
          <a:prstGeom prst="line">
            <a:avLst/>
          </a:prstGeom>
          <a:ln w="12700">
            <a:solidFill>
              <a:srgbClr val="0B0F19"/>
            </a:solidFill>
          </a:ln>
        </p:spPr>
      </p:cxnSp>
      <p:sp>
        <p:nvSpPr>
          <p:cNvPr id="9" name="TextBox 8"/>
          <p:cNvSpPr txBox="1"/>
          <p:nvPr/>
        </p:nvSpPr>
        <p:spPr>
          <a:xfrm>
            <a:off x="4292498"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02</a:t>
            </a:r>
          </a:p>
        </p:txBody>
      </p:sp>
      <p:sp>
        <p:nvSpPr>
          <p:cNvPr id="10" name="TextBox 9"/>
          <p:cNvSpPr txBox="1"/>
          <p:nvPr/>
        </p:nvSpPr>
        <p:spPr>
          <a:xfrm>
            <a:off x="4292498" y="2560320"/>
            <a:ext cx="3246028" cy="457200"/>
          </a:xfrm>
          <a:prstGeom prst="rect">
            <a:avLst/>
          </a:prstGeom>
          <a:noFill/>
        </p:spPr>
        <p:txBody>
          <a:bodyPr wrap="square" anchor="t" lIns="0" rIns="0" tIns="0" bIns="0">
            <a:spAutoFit/>
          </a:bodyPr>
          <a:lstStyle/>
          <a:p>
            <a:pPr algn="l">
              <a:lnSpc>
                <a:spcPct val="108000"/>
              </a:lnSpc>
            </a:pPr>
            <a:r>
              <a:rPr sz="2200" b="1">
                <a:solidFill>
                  <a:srgbClr val="0B0F19"/>
                </a:solidFill>
                <a:latin typeface="Segoe UI"/>
              </a:rPr>
              <a:t>Read</a:t>
            </a:r>
          </a:p>
        </p:txBody>
      </p:sp>
      <p:sp>
        <p:nvSpPr>
          <p:cNvPr id="11" name="TextBox 10"/>
          <p:cNvSpPr txBox="1"/>
          <p:nvPr/>
        </p:nvSpPr>
        <p:spPr>
          <a:xfrm>
            <a:off x="4292498" y="3063240"/>
            <a:ext cx="3246028" cy="1463040"/>
          </a:xfrm>
          <a:prstGeom prst="rect">
            <a:avLst/>
          </a:prstGeom>
          <a:noFill/>
        </p:spPr>
        <p:txBody>
          <a:bodyPr wrap="square" anchor="t" lIns="0" rIns="0" tIns="0" bIns="0">
            <a:spAutoFit/>
          </a:bodyPr>
          <a:lstStyle/>
          <a:p>
            <a:pPr algn="l">
              <a:lnSpc>
                <a:spcPct val="120000"/>
              </a:lnSpc>
            </a:pPr>
            <a:r>
              <a:rPr sz="1500" b="0">
                <a:solidFill>
                  <a:srgbClr val="374151"/>
                </a:solidFill>
                <a:latin typeface="Segoe UI"/>
              </a:rPr>
              <a:t>Gemma 4 E2B with our LoRA adapter, trained on public labelled receipts (SROIE) and tested on receipts it never saw.</a:t>
            </a:r>
          </a:p>
        </p:txBody>
      </p:sp>
      <p:cxnSp>
        <p:nvCxnSpPr>
          <p:cNvPr id="12" name="Connector 11"/>
          <p:cNvCxnSpPr/>
          <p:nvPr/>
        </p:nvCxnSpPr>
        <p:spPr>
          <a:xfrm>
            <a:off x="7899196" y="2057400"/>
            <a:ext cx="3336196" cy="0"/>
          </a:xfrm>
          <a:prstGeom prst="line">
            <a:avLst/>
          </a:prstGeom>
          <a:ln w="12700">
            <a:solidFill>
              <a:srgbClr val="0B0F19"/>
            </a:solidFill>
          </a:ln>
        </p:spPr>
      </p:cxnSp>
      <p:sp>
        <p:nvSpPr>
          <p:cNvPr id="13" name="TextBox 12"/>
          <p:cNvSpPr txBox="1"/>
          <p:nvPr/>
        </p:nvSpPr>
        <p:spPr>
          <a:xfrm>
            <a:off x="7899196"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03</a:t>
            </a:r>
          </a:p>
        </p:txBody>
      </p:sp>
      <p:sp>
        <p:nvSpPr>
          <p:cNvPr id="14" name="TextBox 13"/>
          <p:cNvSpPr txBox="1"/>
          <p:nvPr/>
        </p:nvSpPr>
        <p:spPr>
          <a:xfrm>
            <a:off x="7899196" y="2560320"/>
            <a:ext cx="3246028" cy="457200"/>
          </a:xfrm>
          <a:prstGeom prst="rect">
            <a:avLst/>
          </a:prstGeom>
          <a:noFill/>
        </p:spPr>
        <p:txBody>
          <a:bodyPr wrap="square" anchor="t" lIns="0" rIns="0" tIns="0" bIns="0">
            <a:spAutoFit/>
          </a:bodyPr>
          <a:lstStyle/>
          <a:p>
            <a:pPr algn="l">
              <a:lnSpc>
                <a:spcPct val="108000"/>
              </a:lnSpc>
            </a:pPr>
            <a:r>
              <a:rPr sz="2200" b="1">
                <a:solidFill>
                  <a:srgbClr val="0B0F19"/>
                </a:solidFill>
                <a:latin typeface="Segoe UI"/>
              </a:rPr>
              <a:t>Log and split</a:t>
            </a:r>
          </a:p>
        </p:txBody>
      </p:sp>
      <p:sp>
        <p:nvSpPr>
          <p:cNvPr id="15" name="TextBox 14"/>
          <p:cNvSpPr txBox="1"/>
          <p:nvPr/>
        </p:nvSpPr>
        <p:spPr>
          <a:xfrm>
            <a:off x="7899196" y="3063240"/>
            <a:ext cx="3246028" cy="1463040"/>
          </a:xfrm>
          <a:prstGeom prst="rect">
            <a:avLst/>
          </a:prstGeom>
          <a:noFill/>
        </p:spPr>
        <p:txBody>
          <a:bodyPr wrap="square" anchor="t" lIns="0" rIns="0" tIns="0" bIns="0">
            <a:spAutoFit/>
          </a:bodyPr>
          <a:lstStyle/>
          <a:p>
            <a:pPr algn="l">
              <a:lnSpc>
                <a:spcPct val="120000"/>
              </a:lnSpc>
            </a:pPr>
            <a:r>
              <a:rPr sz="1500" b="0">
                <a:solidFill>
                  <a:srgbClr val="374151"/>
                </a:solidFill>
                <a:latin typeface="Segoe UI"/>
              </a:rPr>
              <a:t>Edit the fields, add them to expenses, or split equally or by item; everyone settles up in the fewest payments.</a:t>
            </a:r>
          </a:p>
        </p:txBody>
      </p:sp>
      <p:cxnSp>
        <p:nvCxnSpPr>
          <p:cNvPr id="16" name="Connector 15"/>
          <p:cNvCxnSpPr/>
          <p:nvPr/>
        </p:nvCxnSpPr>
        <p:spPr>
          <a:xfrm>
            <a:off x="685800" y="4892040"/>
            <a:ext cx="10820095" cy="0"/>
          </a:xfrm>
          <a:prstGeom prst="line">
            <a:avLst/>
          </a:prstGeom>
          <a:ln w="9525">
            <a:solidFill>
              <a:srgbClr val="E5E7EB"/>
            </a:solidFill>
          </a:ln>
        </p:spPr>
      </p:cxnSp>
      <p:sp>
        <p:nvSpPr>
          <p:cNvPr id="17" name="TextBox 16"/>
          <p:cNvSpPr txBox="1"/>
          <p:nvPr/>
        </p:nvSpPr>
        <p:spPr>
          <a:xfrm>
            <a:off x="685800" y="5120640"/>
            <a:ext cx="10820095" cy="731520"/>
          </a:xfrm>
          <a:prstGeom prst="rect">
            <a:avLst/>
          </a:prstGeom>
          <a:noFill/>
        </p:spPr>
        <p:txBody>
          <a:bodyPr wrap="square" anchor="t" lIns="0" rIns="0" tIns="0" bIns="0">
            <a:spAutoFit/>
          </a:bodyPr>
          <a:lstStyle/>
          <a:p>
            <a:pPr algn="l">
              <a:lnSpc>
                <a:spcPct val="108000"/>
              </a:lnSpc>
            </a:pPr>
            <a:r>
              <a:rPr sz="1900" b="0">
                <a:solidFill>
                  <a:srgbClr val="6B7280"/>
                </a:solidFill>
                <a:latin typeface="Segoe UI"/>
              </a:rPr>
              <a:t>What made the difference: </a:t>
            </a:r>
            <a:r>
              <a:rPr sz="1900" b="1">
                <a:solidFill>
                  <a:srgbClr val="0B0F19"/>
                </a:solidFill>
                <a:latin typeface="Segoe UI"/>
              </a:rPr>
              <a:t>doubling image resolution beat doubling the model size.</a:t>
            </a:r>
          </a:p>
        </p:txBody>
      </p:sp>
      <p:sp>
        <p:nvSpPr>
          <p:cNvPr id="18" name="TextBox 17"/>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19" name="TextBox 18"/>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DAND  —  THE RESULT</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10x more receipts read perfectly.</a:t>
            </a:r>
          </a:p>
        </p:txBody>
      </p:sp>
      <p:pic>
        <p:nvPicPr>
          <p:cNvPr id="4" name="Picture 3" descr="ten_x.png"/>
          <p:cNvPicPr>
            <a:picLocks noChangeAspect="1"/>
          </p:cNvPicPr>
          <p:nvPr/>
        </p:nvPicPr>
        <p:blipFill>
          <a:blip r:embed="rId2"/>
          <a:stretch>
            <a:fillRect/>
          </a:stretch>
        </p:blipFill>
        <p:spPr>
          <a:xfrm>
            <a:off x="685800" y="1783080"/>
            <a:ext cx="4937664" cy="4069080"/>
          </a:xfrm>
          <a:prstGeom prst="rect">
            <a:avLst/>
          </a:prstGeom>
        </p:spPr>
      </p:pic>
      <p:sp>
        <p:nvSpPr>
          <p:cNvPr id="5" name="TextBox 4"/>
          <p:cNvSpPr txBox="1"/>
          <p:nvPr/>
        </p:nvSpPr>
        <p:spPr>
          <a:xfrm>
            <a:off x="7538526" y="2103120"/>
            <a:ext cx="3967368" cy="2194560"/>
          </a:xfrm>
          <a:prstGeom prst="rect">
            <a:avLst/>
          </a:prstGeom>
          <a:noFill/>
        </p:spPr>
        <p:txBody>
          <a:bodyPr wrap="square" anchor="t" lIns="0" rIns="0" tIns="0" bIns="0">
            <a:spAutoFit/>
          </a:bodyPr>
          <a:lstStyle/>
          <a:p>
            <a:pPr algn="l">
              <a:lnSpc>
                <a:spcPct val="130000"/>
              </a:lnSpc>
            </a:pPr>
            <a:r>
              <a:rPr sz="1700" b="0">
                <a:solidFill>
                  <a:srgbClr val="374151"/>
                </a:solidFill>
                <a:latin typeface="Segoe UI"/>
              </a:rPr>
              <a:t>Same Gemma 4 model, same settings, same 100 receipts it never saw.</a:t>
            </a:r>
          </a:p>
          <a:p>
            <a:pPr algn="l">
              <a:lnSpc>
                <a:spcPct val="130000"/>
              </a:lnSpc>
            </a:pPr>
            <a:r>
              <a:rPr sz="1700" b="0">
                <a:solidFill>
                  <a:srgbClr val="374151"/>
                </a:solidFill>
                <a:latin typeface="Segoe UI"/>
              </a:rPr>
              <a:t>Without our fine-tune: 7 in 100 read perfectly.</a:t>
            </a:r>
          </a:p>
          <a:p>
            <a:pPr algn="l">
              <a:lnSpc>
                <a:spcPct val="130000"/>
              </a:lnSpc>
            </a:pPr>
            <a:r>
              <a:rPr sz="1700" b="0">
                <a:solidFill>
                  <a:srgbClr val="374151"/>
                </a:solidFill>
                <a:latin typeface="Segoe UI"/>
              </a:rPr>
              <a:t>With it: 70 in 100.</a:t>
            </a:r>
          </a:p>
        </p:txBody>
      </p:sp>
      <p:cxnSp>
        <p:nvCxnSpPr>
          <p:cNvPr id="6" name="Connector 5"/>
          <p:cNvCxnSpPr/>
          <p:nvPr/>
        </p:nvCxnSpPr>
        <p:spPr>
          <a:xfrm>
            <a:off x="7538526" y="4343400"/>
            <a:ext cx="3967369" cy="0"/>
          </a:xfrm>
          <a:prstGeom prst="line">
            <a:avLst/>
          </a:prstGeom>
          <a:ln w="9525">
            <a:solidFill>
              <a:srgbClr val="E5E7EB"/>
            </a:solidFill>
          </a:ln>
        </p:spPr>
      </p:cxnSp>
      <p:sp>
        <p:nvSpPr>
          <p:cNvPr id="7" name="TextBox 6"/>
          <p:cNvSpPr txBox="1"/>
          <p:nvPr/>
        </p:nvSpPr>
        <p:spPr>
          <a:xfrm>
            <a:off x="7538526" y="4526280"/>
            <a:ext cx="3967368" cy="457200"/>
          </a:xfrm>
          <a:prstGeom prst="rect">
            <a:avLst/>
          </a:prstGeom>
          <a:noFill/>
        </p:spPr>
        <p:txBody>
          <a:bodyPr wrap="square" anchor="t" lIns="0" rIns="0" tIns="0" bIns="0">
            <a:spAutoFit/>
          </a:bodyPr>
          <a:lstStyle/>
          <a:p>
            <a:pPr algn="l">
              <a:lnSpc>
                <a:spcPct val="108000"/>
              </a:lnSpc>
            </a:pPr>
            <a:r>
              <a:rPr sz="1300" b="1">
                <a:solidFill>
                  <a:srgbClr val="0B0F19"/>
                </a:solidFill>
                <a:latin typeface="Segoe UI"/>
              </a:rPr>
              <a:t>100 held-out receipts  ·  McNemar p &lt; 1e-10</a:t>
            </a:r>
          </a:p>
        </p:txBody>
      </p:sp>
      <p:sp>
        <p:nvSpPr>
          <p:cNvPr id="8" name="TextBox 7"/>
          <p:cNvSpPr txBox="1"/>
          <p:nvPr/>
        </p:nvSpPr>
        <p:spPr>
          <a:xfrm>
            <a:off x="685800" y="6053328"/>
            <a:ext cx="10820095"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Fine-tuned version shown: best of 5 configurations, same test set.</a:t>
            </a:r>
          </a:p>
        </p:txBody>
      </p:sp>
      <p:sp>
        <p:nvSpPr>
          <p:cNvPr id="9" name="TextBox 8"/>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10" name="TextBox 9"/>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DAND  —  READING ERRORS</a:t>
            </a:r>
          </a:p>
        </p:txBody>
      </p:sp>
      <p:sp>
        <p:nvSpPr>
          <p:cNvPr id="3" name="TextBox 2"/>
          <p:cNvSpPr txBox="1"/>
          <p:nvPr/>
        </p:nvSpPr>
        <p:spPr>
          <a:xfrm>
            <a:off x="685800" y="1325880"/>
            <a:ext cx="10820095" cy="2194560"/>
          </a:xfrm>
          <a:prstGeom prst="rect">
            <a:avLst/>
          </a:prstGeom>
          <a:noFill/>
        </p:spPr>
        <p:txBody>
          <a:bodyPr wrap="square" anchor="t" lIns="0" rIns="0" tIns="0" bIns="0">
            <a:spAutoFit/>
          </a:bodyPr>
          <a:lstStyle/>
          <a:p>
            <a:pPr algn="l">
              <a:lnSpc>
                <a:spcPct val="90000"/>
              </a:lnSpc>
            </a:pPr>
            <a:r>
              <a:rPr sz="11800" b="1">
                <a:solidFill>
                  <a:srgbClr val="0F9F6E"/>
                </a:solidFill>
                <a:latin typeface="Segoe UI"/>
              </a:rPr>
              <a:t>3/4</a:t>
            </a:r>
          </a:p>
        </p:txBody>
      </p:sp>
      <p:sp>
        <p:nvSpPr>
          <p:cNvPr id="4" name="TextBox 3"/>
          <p:cNvSpPr txBox="1"/>
          <p:nvPr/>
        </p:nvSpPr>
        <p:spPr>
          <a:xfrm>
            <a:off x="685800" y="3246120"/>
            <a:ext cx="9016746" cy="1097280"/>
          </a:xfrm>
          <a:prstGeom prst="rect">
            <a:avLst/>
          </a:prstGeom>
          <a:noFill/>
        </p:spPr>
        <p:txBody>
          <a:bodyPr wrap="square" anchor="t" lIns="0" rIns="0" tIns="0" bIns="0">
            <a:spAutoFit/>
          </a:bodyPr>
          <a:lstStyle/>
          <a:p>
            <a:pPr algn="l">
              <a:lnSpc>
                <a:spcPct val="105000"/>
              </a:lnSpc>
            </a:pPr>
            <a:r>
              <a:rPr sz="3400" b="1">
                <a:solidFill>
                  <a:srgbClr val="0B0F19"/>
                </a:solidFill>
                <a:latin typeface="Segoe UI"/>
              </a:rPr>
              <a:t>fewer reading errors.</a:t>
            </a:r>
          </a:p>
        </p:txBody>
      </p:sp>
      <p:sp>
        <p:nvSpPr>
          <p:cNvPr id="5" name="TextBox 4"/>
          <p:cNvSpPr txBox="1"/>
          <p:nvPr/>
        </p:nvSpPr>
        <p:spPr>
          <a:xfrm>
            <a:off x="685800" y="4206240"/>
            <a:ext cx="7664234" cy="914400"/>
          </a:xfrm>
          <a:prstGeom prst="rect">
            <a:avLst/>
          </a:prstGeom>
          <a:noFill/>
        </p:spPr>
        <p:txBody>
          <a:bodyPr wrap="square" anchor="t" lIns="0" rIns="0" tIns="0" bIns="0">
            <a:spAutoFit/>
          </a:bodyPr>
          <a:lstStyle/>
          <a:p>
            <a:pPr algn="l">
              <a:lnSpc>
                <a:spcPct val="125000"/>
              </a:lnSpc>
            </a:pPr>
            <a:r>
              <a:rPr sz="1700" b="0">
                <a:solidFill>
                  <a:srgbClr val="374151"/>
                </a:solidFill>
                <a:latin typeface="Segoe UI"/>
              </a:rPr>
              <a:t>Field accuracy goes from 70% to 92% on the same model. Totals are right 98% of the time.</a:t>
            </a:r>
          </a:p>
        </p:txBody>
      </p:sp>
      <p:sp>
        <p:nvSpPr>
          <p:cNvPr id="6" name="TextBox 5"/>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7" name="TextBox 6"/>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94A3B8"/>
                </a:solidFill>
                <a:latin typeface="Segoe UI"/>
              </a:rPr>
              <a:t>BHED  —  WHY FINE-TUNE AT ALL</a:t>
            </a:r>
          </a:p>
        </p:txBody>
      </p:sp>
      <p:sp>
        <p:nvSpPr>
          <p:cNvPr id="3" name="TextBox 2"/>
          <p:cNvSpPr txBox="1"/>
          <p:nvPr/>
        </p:nvSpPr>
        <p:spPr>
          <a:xfrm>
            <a:off x="685800" y="1325880"/>
            <a:ext cx="10820095" cy="2194560"/>
          </a:xfrm>
          <a:prstGeom prst="rect">
            <a:avLst/>
          </a:prstGeom>
          <a:noFill/>
        </p:spPr>
        <p:txBody>
          <a:bodyPr wrap="square" anchor="t" lIns="0" rIns="0" tIns="0" bIns="0">
            <a:spAutoFit/>
          </a:bodyPr>
          <a:lstStyle/>
          <a:p>
            <a:pPr algn="l">
              <a:lnSpc>
                <a:spcPct val="90000"/>
              </a:lnSpc>
            </a:pPr>
            <a:r>
              <a:rPr sz="11800" b="1">
                <a:solidFill>
                  <a:srgbClr val="34D399"/>
                </a:solidFill>
                <a:latin typeface="Segoe UI"/>
              </a:rPr>
              <a:t>2x</a:t>
            </a:r>
          </a:p>
        </p:txBody>
      </p:sp>
      <p:sp>
        <p:nvSpPr>
          <p:cNvPr id="4" name="TextBox 3"/>
          <p:cNvSpPr txBox="1"/>
          <p:nvPr/>
        </p:nvSpPr>
        <p:spPr>
          <a:xfrm>
            <a:off x="685800" y="3246120"/>
            <a:ext cx="9016746" cy="1097280"/>
          </a:xfrm>
          <a:prstGeom prst="rect">
            <a:avLst/>
          </a:prstGeom>
          <a:noFill/>
        </p:spPr>
        <p:txBody>
          <a:bodyPr wrap="square" anchor="t" lIns="0" rIns="0" tIns="0" bIns="0">
            <a:spAutoFit/>
          </a:bodyPr>
          <a:lstStyle/>
          <a:p>
            <a:pPr algn="l">
              <a:lnSpc>
                <a:spcPct val="105000"/>
              </a:lnSpc>
            </a:pPr>
            <a:r>
              <a:rPr sz="3400" b="1">
                <a:solidFill>
                  <a:srgbClr val="FFFFFF"/>
                </a:solidFill>
                <a:latin typeface="Segoe UI"/>
              </a:rPr>
              <a:t>better than prompt engineering.</a:t>
            </a:r>
          </a:p>
        </p:txBody>
      </p:sp>
      <p:sp>
        <p:nvSpPr>
          <p:cNvPr id="5" name="TextBox 4"/>
          <p:cNvSpPr txBox="1"/>
          <p:nvPr/>
        </p:nvSpPr>
        <p:spPr>
          <a:xfrm>
            <a:off x="685800" y="4206240"/>
            <a:ext cx="7664234" cy="914400"/>
          </a:xfrm>
          <a:prstGeom prst="rect">
            <a:avLst/>
          </a:prstGeom>
          <a:noFill/>
        </p:spPr>
        <p:txBody>
          <a:bodyPr wrap="square" anchor="t" lIns="0" rIns="0" tIns="0" bIns="0">
            <a:spAutoFit/>
          </a:bodyPr>
          <a:lstStyle/>
          <a:p>
            <a:pPr algn="l">
              <a:lnSpc>
                <a:spcPct val="125000"/>
              </a:lnSpc>
            </a:pPr>
            <a:r>
              <a:rPr sz="1700" b="0">
                <a:solidFill>
                  <a:srgbClr val="CBD5E1"/>
                </a:solidFill>
                <a:latin typeface="Segoe UI"/>
              </a:rPr>
              <a:t>A carefully engineered prompt gets 37% of receipts fully right. Our fine-tune gets 76%.</a:t>
            </a:r>
          </a:p>
        </p:txBody>
      </p:sp>
      <p:sp>
        <p:nvSpPr>
          <p:cNvPr id="6" name="TextBox 5"/>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64748B"/>
                </a:solidFill>
                <a:latin typeface="Segoe UI"/>
              </a:rPr>
              <a:t>Receipt to Expense  ·  Team Come_Join_Qarc  ·  Theme 3B</a:t>
            </a:r>
          </a:p>
        </p:txBody>
      </p:sp>
      <p:sp>
        <p:nvSpPr>
          <p:cNvPr id="7" name="TextBox 6"/>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64748B"/>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DAAM  —  LIVE DEMO</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Snap it. Check it. Split it.</a:t>
            </a:r>
          </a:p>
        </p:txBody>
      </p:sp>
      <p:sp>
        <p:nvSpPr>
          <p:cNvPr id="4" name="Rectangle 3"/>
          <p:cNvSpPr/>
          <p:nvPr/>
        </p:nvSpPr>
        <p:spPr>
          <a:xfrm>
            <a:off x="685800" y="1783080"/>
            <a:ext cx="4160520" cy="412422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83080"/>
            <a:ext cx="4160520" cy="2743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32104" y="1874519"/>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87552" y="1874519"/>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 y="1874519"/>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rop_pro_ui_scan.png"/>
          <p:cNvPicPr>
            <a:picLocks noChangeAspect="1"/>
          </p:cNvPicPr>
          <p:nvPr/>
        </p:nvPicPr>
        <p:blipFill>
          <a:blip r:embed="rId2"/>
          <a:stretch>
            <a:fillRect/>
          </a:stretch>
        </p:blipFill>
        <p:spPr>
          <a:xfrm>
            <a:off x="685800" y="2057400"/>
            <a:ext cx="4160520" cy="3849903"/>
          </a:xfrm>
          <a:prstGeom prst="rect">
            <a:avLst/>
          </a:prstGeom>
        </p:spPr>
      </p:pic>
      <p:sp>
        <p:nvSpPr>
          <p:cNvPr id="10" name="Rounded Rectangle 9"/>
          <p:cNvSpPr/>
          <p:nvPr/>
        </p:nvSpPr>
        <p:spPr>
          <a:xfrm>
            <a:off x="5120640" y="1783080"/>
            <a:ext cx="1960347" cy="4050791"/>
          </a:xfrm>
          <a:prstGeom prst="roundRect">
            <a:avLst>
              <a:gd name="adj" fmla="val 12000"/>
            </a:avLst>
          </a:prstGeom>
          <a:solidFill>
            <a:srgbClr val="0B0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_ui_phone.png"/>
          <p:cNvPicPr>
            <a:picLocks noChangeAspect="1"/>
          </p:cNvPicPr>
          <p:nvPr/>
        </p:nvPicPr>
        <p:blipFill>
          <a:blip r:embed="rId3"/>
          <a:stretch>
            <a:fillRect/>
          </a:stretch>
        </p:blipFill>
        <p:spPr>
          <a:xfrm>
            <a:off x="5202936" y="1865376"/>
            <a:ext cx="1795756" cy="3886200"/>
          </a:xfrm>
          <a:prstGeom prst="rect">
            <a:avLst/>
          </a:prstGeom>
        </p:spPr>
      </p:pic>
      <p:sp>
        <p:nvSpPr>
          <p:cNvPr id="12" name="TextBox 11"/>
          <p:cNvSpPr txBox="1"/>
          <p:nvPr/>
        </p:nvSpPr>
        <p:spPr>
          <a:xfrm>
            <a:off x="7673778" y="1828800"/>
            <a:ext cx="3787033" cy="457200"/>
          </a:xfrm>
          <a:prstGeom prst="rect">
            <a:avLst/>
          </a:prstGeom>
          <a:noFill/>
        </p:spPr>
        <p:txBody>
          <a:bodyPr wrap="square" anchor="t" lIns="0" rIns="0" tIns="0" bIns="0">
            <a:spAutoFit/>
          </a:bodyPr>
          <a:lstStyle/>
          <a:p>
            <a:pPr algn="l">
              <a:lnSpc>
                <a:spcPct val="108000"/>
              </a:lnSpc>
            </a:pPr>
            <a:r>
              <a:rPr sz="1800" b="1">
                <a:solidFill>
                  <a:srgbClr val="0B0F19"/>
                </a:solidFill>
                <a:latin typeface="Segoe UI"/>
              </a:rPr>
              <a:t>Judges: lend us a receipt.</a:t>
            </a:r>
          </a:p>
        </p:txBody>
      </p:sp>
      <p:sp>
        <p:nvSpPr>
          <p:cNvPr id="13" name="TextBox 12"/>
          <p:cNvSpPr txBox="1"/>
          <p:nvPr/>
        </p:nvSpPr>
        <p:spPr>
          <a:xfrm>
            <a:off x="7673778" y="2240280"/>
            <a:ext cx="3787033" cy="822960"/>
          </a:xfrm>
          <a:prstGeom prst="rect">
            <a:avLst/>
          </a:prstGeom>
          <a:noFill/>
        </p:spPr>
        <p:txBody>
          <a:bodyPr wrap="square" anchor="t" lIns="0" rIns="0" tIns="0" bIns="0">
            <a:spAutoFit/>
          </a:bodyPr>
          <a:lstStyle/>
          <a:p>
            <a:pPr algn="l">
              <a:lnSpc>
                <a:spcPct val="108000"/>
              </a:lnSpc>
            </a:pPr>
            <a:r>
              <a:rPr sz="1300" b="0">
                <a:solidFill>
                  <a:srgbClr val="374151"/>
                </a:solidFill>
                <a:latin typeface="Segoe UI"/>
              </a:rPr>
              <a:t>Scan the code to try it on your phone.</a:t>
            </a:r>
          </a:p>
        </p:txBody>
      </p:sp>
      <p:pic>
        <p:nvPicPr>
          <p:cNvPr id="14" name="Picture 13" descr="qr_app.png"/>
          <p:cNvPicPr>
            <a:picLocks noChangeAspect="1"/>
          </p:cNvPicPr>
          <p:nvPr/>
        </p:nvPicPr>
        <p:blipFill>
          <a:blip r:embed="rId4"/>
          <a:stretch>
            <a:fillRect/>
          </a:stretch>
        </p:blipFill>
        <p:spPr>
          <a:xfrm>
            <a:off x="7673778" y="2926080"/>
            <a:ext cx="1600200" cy="1600200"/>
          </a:xfrm>
          <a:prstGeom prst="rect">
            <a:avLst/>
          </a:prstGeom>
        </p:spPr>
      </p:pic>
      <p:sp>
        <p:nvSpPr>
          <p:cNvPr id="15" name="TextBox 14"/>
          <p:cNvSpPr txBox="1"/>
          <p:nvPr/>
        </p:nvSpPr>
        <p:spPr>
          <a:xfrm>
            <a:off x="7673778" y="4590288"/>
            <a:ext cx="3787033" cy="274320"/>
          </a:xfrm>
          <a:prstGeom prst="rect">
            <a:avLst/>
          </a:prstGeom>
          <a:noFill/>
        </p:spPr>
        <p:txBody>
          <a:bodyPr wrap="square" anchor="t" lIns="0" rIns="0" tIns="0" bIns="0">
            <a:spAutoFit/>
          </a:bodyPr>
          <a:lstStyle/>
          <a:p>
            <a:pPr algn="l">
              <a:lnSpc>
                <a:spcPct val="108000"/>
              </a:lnSpc>
            </a:pPr>
            <a:r>
              <a:rPr sz="1000" b="0">
                <a:solidFill>
                  <a:srgbClr val="6B7280"/>
                </a:solidFill>
                <a:latin typeface="Segoe UI"/>
              </a:rPr>
              <a:t>f6753b53a276c78344.gradio.live</a:t>
            </a:r>
          </a:p>
        </p:txBody>
      </p:sp>
      <p:sp>
        <p:nvSpPr>
          <p:cNvPr id="16" name="TextBox 15"/>
          <p:cNvSpPr txBox="1"/>
          <p:nvPr/>
        </p:nvSpPr>
        <p:spPr>
          <a:xfrm>
            <a:off x="7673778" y="4983480"/>
            <a:ext cx="3787033" cy="1097280"/>
          </a:xfrm>
          <a:prstGeom prst="rect">
            <a:avLst/>
          </a:prstGeom>
          <a:noFill/>
        </p:spPr>
        <p:txBody>
          <a:bodyPr wrap="square" anchor="t" lIns="0" rIns="0" tIns="0" bIns="0">
            <a:spAutoFit/>
          </a:bodyPr>
          <a:lstStyle/>
          <a:p>
            <a:pPr algn="l">
              <a:lnSpc>
                <a:spcPct val="130000"/>
              </a:lnSpc>
            </a:pPr>
            <a:r>
              <a:rPr sz="1250" b="0">
                <a:solidFill>
                  <a:srgbClr val="374151"/>
                </a:solidFill>
                <a:latin typeface="Segoe UI"/>
              </a:rPr>
              <a:t>Trust check on every field</a:t>
            </a:r>
          </a:p>
          <a:p>
            <a:pPr algn="l">
              <a:lnSpc>
                <a:spcPct val="130000"/>
              </a:lnSpc>
            </a:pPr>
            <a:r>
              <a:rPr sz="1250" b="0">
                <a:solidFill>
                  <a:srgbClr val="374151"/>
                </a:solidFill>
                <a:latin typeface="Segoe UI"/>
              </a:rPr>
              <a:t>Split equally or by item</a:t>
            </a:r>
          </a:p>
          <a:p>
            <a:pPr algn="l">
              <a:lnSpc>
                <a:spcPct val="130000"/>
              </a:lnSpc>
            </a:pPr>
            <a:r>
              <a:rPr sz="1250" b="0">
                <a:solidFill>
                  <a:srgbClr val="374151"/>
                </a:solidFill>
                <a:latin typeface="Segoe UI"/>
              </a:rPr>
              <a:t>Expenses to CSV</a:t>
            </a:r>
          </a:p>
        </p:txBody>
      </p:sp>
      <p:sp>
        <p:nvSpPr>
          <p:cNvPr id="17" name="TextBox 16"/>
          <p:cNvSpPr txBox="1"/>
          <p:nvPr/>
        </p:nvSpPr>
        <p:spPr>
          <a:xfrm>
            <a:off x="685800" y="6053328"/>
            <a:ext cx="10820095" cy="274320"/>
          </a:xfrm>
          <a:prstGeom prst="rect">
            <a:avLst/>
          </a:prstGeom>
          <a:noFill/>
        </p:spPr>
        <p:txBody>
          <a:bodyPr wrap="square" anchor="t" lIns="0" rIns="0" tIns="0" bIns="0">
            <a:spAutoFit/>
          </a:bodyPr>
          <a:lstStyle/>
          <a:p>
            <a:pPr algn="l">
              <a:lnSpc>
                <a:spcPct val="108000"/>
              </a:lnSpc>
            </a:pPr>
            <a:r>
              <a:rPr sz="1000" b="0">
                <a:solidFill>
                  <a:srgbClr val="9CA3AF"/>
                </a:solidFill>
                <a:latin typeface="Segoe UI"/>
              </a:rPr>
              <a:t>On the projector: the polished UI. On phones: the public link, same fine-tuned model.</a:t>
            </a:r>
          </a:p>
        </p:txBody>
      </p:sp>
      <p:sp>
        <p:nvSpPr>
          <p:cNvPr id="18" name="TextBox 17"/>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19" name="TextBox 18"/>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DELIVERED</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Everything required, plus every bonus.</a:t>
            </a:r>
          </a:p>
        </p:txBody>
      </p:sp>
      <p:sp>
        <p:nvSpPr>
          <p:cNvPr id="4" name="TextBox 3"/>
          <p:cNvSpPr txBox="1"/>
          <p:nvPr/>
        </p:nvSpPr>
        <p:spPr>
          <a:xfrm>
            <a:off x="685800" y="1828800"/>
            <a:ext cx="3606698" cy="365760"/>
          </a:xfrm>
          <a:prstGeom prst="rect">
            <a:avLst/>
          </a:prstGeom>
          <a:noFill/>
        </p:spPr>
        <p:txBody>
          <a:bodyPr wrap="square" anchor="t" lIns="0" rIns="0" tIns="0" bIns="0">
            <a:spAutoFit/>
          </a:bodyPr>
          <a:lstStyle/>
          <a:p>
            <a:pPr algn="l">
              <a:lnSpc>
                <a:spcPct val="108000"/>
              </a:lnSpc>
            </a:pPr>
            <a:r>
              <a:rPr sz="1200" b="1" spc="150">
                <a:solidFill>
                  <a:srgbClr val="6B7280"/>
                </a:solidFill>
                <a:latin typeface="Segoe UI"/>
              </a:rPr>
              <a:t>Required</a:t>
            </a:r>
          </a:p>
        </p:txBody>
      </p:sp>
      <p:cxnSp>
        <p:nvCxnSpPr>
          <p:cNvPr id="5" name="Connector 4"/>
          <p:cNvCxnSpPr/>
          <p:nvPr/>
        </p:nvCxnSpPr>
        <p:spPr>
          <a:xfrm>
            <a:off x="685800" y="2185416"/>
            <a:ext cx="3606698" cy="0"/>
          </a:xfrm>
          <a:prstGeom prst="line">
            <a:avLst/>
          </a:prstGeom>
          <a:ln w="9525">
            <a:solidFill>
              <a:srgbClr val="E5E7EB"/>
            </a:solidFill>
          </a:ln>
        </p:spPr>
      </p:cxnSp>
      <p:sp>
        <p:nvSpPr>
          <p:cNvPr id="6" name="TextBox 5"/>
          <p:cNvSpPr txBox="1"/>
          <p:nvPr/>
        </p:nvSpPr>
        <p:spPr>
          <a:xfrm>
            <a:off x="685800" y="2240280"/>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7" name="TextBox 6"/>
          <p:cNvSpPr txBox="1"/>
          <p:nvPr/>
        </p:nvSpPr>
        <p:spPr>
          <a:xfrm>
            <a:off x="1033271" y="2240280"/>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Fine-tuned model + training settings</a:t>
            </a:r>
          </a:p>
        </p:txBody>
      </p:sp>
      <p:cxnSp>
        <p:nvCxnSpPr>
          <p:cNvPr id="8" name="Connector 7"/>
          <p:cNvCxnSpPr/>
          <p:nvPr/>
        </p:nvCxnSpPr>
        <p:spPr>
          <a:xfrm>
            <a:off x="685800" y="2660904"/>
            <a:ext cx="3606698" cy="0"/>
          </a:xfrm>
          <a:prstGeom prst="line">
            <a:avLst/>
          </a:prstGeom>
          <a:ln w="9525">
            <a:solidFill>
              <a:srgbClr val="E5E7EB"/>
            </a:solidFill>
          </a:ln>
        </p:spPr>
      </p:cxnSp>
      <p:sp>
        <p:nvSpPr>
          <p:cNvPr id="9" name="TextBox 8"/>
          <p:cNvSpPr txBox="1"/>
          <p:nvPr/>
        </p:nvSpPr>
        <p:spPr>
          <a:xfrm>
            <a:off x="685800" y="2715768"/>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10" name="TextBox 9"/>
          <p:cNvSpPr txBox="1"/>
          <p:nvPr/>
        </p:nvSpPr>
        <p:spPr>
          <a:xfrm>
            <a:off x="1033271" y="2715768"/>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Dataset description</a:t>
            </a:r>
          </a:p>
        </p:txBody>
      </p:sp>
      <p:cxnSp>
        <p:nvCxnSpPr>
          <p:cNvPr id="11" name="Connector 10"/>
          <p:cNvCxnSpPr/>
          <p:nvPr/>
        </p:nvCxnSpPr>
        <p:spPr>
          <a:xfrm>
            <a:off x="685800" y="3136392"/>
            <a:ext cx="3606698" cy="0"/>
          </a:xfrm>
          <a:prstGeom prst="line">
            <a:avLst/>
          </a:prstGeom>
          <a:ln w="9525">
            <a:solidFill>
              <a:srgbClr val="E5E7EB"/>
            </a:solidFill>
          </a:ln>
        </p:spPr>
      </p:cxnSp>
      <p:sp>
        <p:nvSpPr>
          <p:cNvPr id="12" name="TextBox 11"/>
          <p:cNvSpPr txBox="1"/>
          <p:nvPr/>
        </p:nvSpPr>
        <p:spPr>
          <a:xfrm>
            <a:off x="685800" y="3191256"/>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13" name="TextBox 12"/>
          <p:cNvSpPr txBox="1"/>
          <p:nvPr/>
        </p:nvSpPr>
        <p:spPr>
          <a:xfrm>
            <a:off x="1033271" y="3191256"/>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Plain vs fine-tuned comparison</a:t>
            </a:r>
          </a:p>
        </p:txBody>
      </p:sp>
      <p:cxnSp>
        <p:nvCxnSpPr>
          <p:cNvPr id="14" name="Connector 13"/>
          <p:cNvCxnSpPr/>
          <p:nvPr/>
        </p:nvCxnSpPr>
        <p:spPr>
          <a:xfrm>
            <a:off x="685800" y="3611879"/>
            <a:ext cx="3606698" cy="0"/>
          </a:xfrm>
          <a:prstGeom prst="line">
            <a:avLst/>
          </a:prstGeom>
          <a:ln w="9525">
            <a:solidFill>
              <a:srgbClr val="E5E7EB"/>
            </a:solidFill>
          </a:ln>
        </p:spPr>
      </p:cxnSp>
      <p:sp>
        <p:nvSpPr>
          <p:cNvPr id="15" name="TextBox 14"/>
          <p:cNvSpPr txBox="1"/>
          <p:nvPr/>
        </p:nvSpPr>
        <p:spPr>
          <a:xfrm>
            <a:off x="685800" y="3666744"/>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16" name="TextBox 15"/>
          <p:cNvSpPr txBox="1"/>
          <p:nvPr/>
        </p:nvSpPr>
        <p:spPr>
          <a:xfrm>
            <a:off x="1033271" y="3666744"/>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Working app, live</a:t>
            </a:r>
          </a:p>
        </p:txBody>
      </p:sp>
      <p:cxnSp>
        <p:nvCxnSpPr>
          <p:cNvPr id="17" name="Connector 16"/>
          <p:cNvCxnSpPr/>
          <p:nvPr/>
        </p:nvCxnSpPr>
        <p:spPr>
          <a:xfrm>
            <a:off x="685800" y="4087368"/>
            <a:ext cx="3606698" cy="0"/>
          </a:xfrm>
          <a:prstGeom prst="line">
            <a:avLst/>
          </a:prstGeom>
          <a:ln w="9525">
            <a:solidFill>
              <a:srgbClr val="E5E7EB"/>
            </a:solidFill>
          </a:ln>
        </p:spPr>
      </p:cxnSp>
      <p:sp>
        <p:nvSpPr>
          <p:cNvPr id="18" name="TextBox 17"/>
          <p:cNvSpPr txBox="1"/>
          <p:nvPr/>
        </p:nvSpPr>
        <p:spPr>
          <a:xfrm>
            <a:off x="685800" y="4142232"/>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19" name="TextBox 18"/>
          <p:cNvSpPr txBox="1"/>
          <p:nvPr/>
        </p:nvSpPr>
        <p:spPr>
          <a:xfrm>
            <a:off x="1033271" y="4142232"/>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Where it helps, limits and why</a:t>
            </a:r>
          </a:p>
        </p:txBody>
      </p:sp>
      <p:sp>
        <p:nvSpPr>
          <p:cNvPr id="20" name="TextBox 19"/>
          <p:cNvSpPr txBox="1"/>
          <p:nvPr/>
        </p:nvSpPr>
        <p:spPr>
          <a:xfrm>
            <a:off x="4698251" y="1828800"/>
            <a:ext cx="3606698" cy="365760"/>
          </a:xfrm>
          <a:prstGeom prst="rect">
            <a:avLst/>
          </a:prstGeom>
          <a:noFill/>
        </p:spPr>
        <p:txBody>
          <a:bodyPr wrap="square" anchor="t" lIns="0" rIns="0" tIns="0" bIns="0">
            <a:spAutoFit/>
          </a:bodyPr>
          <a:lstStyle/>
          <a:p>
            <a:pPr algn="l">
              <a:lnSpc>
                <a:spcPct val="108000"/>
              </a:lnSpc>
            </a:pPr>
            <a:r>
              <a:rPr sz="1200" b="1" spc="150">
                <a:solidFill>
                  <a:srgbClr val="6B7280"/>
                </a:solidFill>
                <a:latin typeface="Segoe UI"/>
              </a:rPr>
              <a:t>Bonus</a:t>
            </a:r>
          </a:p>
        </p:txBody>
      </p:sp>
      <p:cxnSp>
        <p:nvCxnSpPr>
          <p:cNvPr id="21" name="Connector 20"/>
          <p:cNvCxnSpPr/>
          <p:nvPr/>
        </p:nvCxnSpPr>
        <p:spPr>
          <a:xfrm>
            <a:off x="4698251" y="2185416"/>
            <a:ext cx="3606699" cy="0"/>
          </a:xfrm>
          <a:prstGeom prst="line">
            <a:avLst/>
          </a:prstGeom>
          <a:ln w="9525">
            <a:solidFill>
              <a:srgbClr val="E5E7EB"/>
            </a:solidFill>
          </a:ln>
        </p:spPr>
      </p:cxnSp>
      <p:sp>
        <p:nvSpPr>
          <p:cNvPr id="22" name="TextBox 21"/>
          <p:cNvSpPr txBox="1"/>
          <p:nvPr/>
        </p:nvSpPr>
        <p:spPr>
          <a:xfrm>
            <a:off x="4698251" y="2240280"/>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23" name="TextBox 22"/>
          <p:cNvSpPr txBox="1"/>
          <p:nvPr/>
        </p:nvSpPr>
        <p:spPr>
          <a:xfrm>
            <a:off x="5045723" y="2240280"/>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Prompted baseline</a:t>
            </a:r>
          </a:p>
        </p:txBody>
      </p:sp>
      <p:cxnSp>
        <p:nvCxnSpPr>
          <p:cNvPr id="24" name="Connector 23"/>
          <p:cNvCxnSpPr/>
          <p:nvPr/>
        </p:nvCxnSpPr>
        <p:spPr>
          <a:xfrm>
            <a:off x="4698251" y="2606040"/>
            <a:ext cx="3606699" cy="0"/>
          </a:xfrm>
          <a:prstGeom prst="line">
            <a:avLst/>
          </a:prstGeom>
          <a:ln w="9525">
            <a:solidFill>
              <a:srgbClr val="E5E7EB"/>
            </a:solidFill>
          </a:ln>
        </p:spPr>
      </p:cxnSp>
      <p:sp>
        <p:nvSpPr>
          <p:cNvPr id="25" name="TextBox 24"/>
          <p:cNvSpPr txBox="1"/>
          <p:nvPr/>
        </p:nvSpPr>
        <p:spPr>
          <a:xfrm>
            <a:off x="4698251" y="2660904"/>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26" name="TextBox 25"/>
          <p:cNvSpPr txBox="1"/>
          <p:nvPr/>
        </p:nvSpPr>
        <p:spPr>
          <a:xfrm>
            <a:off x="5045723" y="2660904"/>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Training experiments</a:t>
            </a:r>
          </a:p>
        </p:txBody>
      </p:sp>
      <p:cxnSp>
        <p:nvCxnSpPr>
          <p:cNvPr id="27" name="Connector 26"/>
          <p:cNvCxnSpPr/>
          <p:nvPr/>
        </p:nvCxnSpPr>
        <p:spPr>
          <a:xfrm>
            <a:off x="4698251" y="3026664"/>
            <a:ext cx="3606699" cy="0"/>
          </a:xfrm>
          <a:prstGeom prst="line">
            <a:avLst/>
          </a:prstGeom>
          <a:ln w="9525">
            <a:solidFill>
              <a:srgbClr val="E5E7EB"/>
            </a:solidFill>
          </a:ln>
        </p:spPr>
      </p:cxnSp>
      <p:sp>
        <p:nvSpPr>
          <p:cNvPr id="28" name="TextBox 27"/>
          <p:cNvSpPr txBox="1"/>
          <p:nvPr/>
        </p:nvSpPr>
        <p:spPr>
          <a:xfrm>
            <a:off x="4698251" y="3081528"/>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29" name="TextBox 28"/>
          <p:cNvSpPr txBox="1"/>
          <p:nvPr/>
        </p:nvSpPr>
        <p:spPr>
          <a:xfrm>
            <a:off x="5045723" y="3081528"/>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Overfitting check</a:t>
            </a:r>
          </a:p>
        </p:txBody>
      </p:sp>
      <p:cxnSp>
        <p:nvCxnSpPr>
          <p:cNvPr id="30" name="Connector 29"/>
          <p:cNvCxnSpPr/>
          <p:nvPr/>
        </p:nvCxnSpPr>
        <p:spPr>
          <a:xfrm>
            <a:off x="4698251" y="3447288"/>
            <a:ext cx="3606699" cy="0"/>
          </a:xfrm>
          <a:prstGeom prst="line">
            <a:avLst/>
          </a:prstGeom>
          <a:ln w="9525">
            <a:solidFill>
              <a:srgbClr val="E5E7EB"/>
            </a:solidFill>
          </a:ln>
        </p:spPr>
      </p:cxnSp>
      <p:sp>
        <p:nvSpPr>
          <p:cNvPr id="31" name="TextBox 30"/>
          <p:cNvSpPr txBox="1"/>
          <p:nvPr/>
        </p:nvSpPr>
        <p:spPr>
          <a:xfrm>
            <a:off x="4698251" y="3502152"/>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32" name="TextBox 31"/>
          <p:cNvSpPr txBox="1"/>
          <p:nvPr/>
        </p:nvSpPr>
        <p:spPr>
          <a:xfrm>
            <a:off x="5045723" y="3502152"/>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Model size comparison (E4B)</a:t>
            </a:r>
          </a:p>
        </p:txBody>
      </p:sp>
      <p:cxnSp>
        <p:nvCxnSpPr>
          <p:cNvPr id="33" name="Connector 32"/>
          <p:cNvCxnSpPr/>
          <p:nvPr/>
        </p:nvCxnSpPr>
        <p:spPr>
          <a:xfrm>
            <a:off x="4698251" y="3867912"/>
            <a:ext cx="3606699" cy="0"/>
          </a:xfrm>
          <a:prstGeom prst="line">
            <a:avLst/>
          </a:prstGeom>
          <a:ln w="9525">
            <a:solidFill>
              <a:srgbClr val="E5E7EB"/>
            </a:solidFill>
          </a:ln>
        </p:spPr>
      </p:cxnSp>
      <p:sp>
        <p:nvSpPr>
          <p:cNvPr id="34" name="TextBox 33"/>
          <p:cNvSpPr txBox="1"/>
          <p:nvPr/>
        </p:nvSpPr>
        <p:spPr>
          <a:xfrm>
            <a:off x="4698251" y="3922776"/>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35" name="TextBox 34"/>
          <p:cNvSpPr txBox="1"/>
          <p:nvPr/>
        </p:nvSpPr>
        <p:spPr>
          <a:xfrm>
            <a:off x="5045723" y="3922776"/>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Combined with retrieval (RAG)</a:t>
            </a:r>
          </a:p>
        </p:txBody>
      </p:sp>
      <p:cxnSp>
        <p:nvCxnSpPr>
          <p:cNvPr id="36" name="Connector 35"/>
          <p:cNvCxnSpPr/>
          <p:nvPr/>
        </p:nvCxnSpPr>
        <p:spPr>
          <a:xfrm>
            <a:off x="4698251" y="4288536"/>
            <a:ext cx="3606699" cy="0"/>
          </a:xfrm>
          <a:prstGeom prst="line">
            <a:avLst/>
          </a:prstGeom>
          <a:ln w="9525">
            <a:solidFill>
              <a:srgbClr val="E5E7EB"/>
            </a:solidFill>
          </a:ln>
        </p:spPr>
      </p:cxnSp>
      <p:sp>
        <p:nvSpPr>
          <p:cNvPr id="37" name="TextBox 36"/>
          <p:cNvSpPr txBox="1"/>
          <p:nvPr/>
        </p:nvSpPr>
        <p:spPr>
          <a:xfrm>
            <a:off x="4698251" y="4343400"/>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38" name="TextBox 37"/>
          <p:cNvSpPr txBox="1"/>
          <p:nvPr/>
        </p:nvSpPr>
        <p:spPr>
          <a:xfrm>
            <a:off x="5045723" y="4343400"/>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Published on Hugging Face</a:t>
            </a:r>
          </a:p>
        </p:txBody>
      </p:sp>
      <p:cxnSp>
        <p:nvCxnSpPr>
          <p:cNvPr id="39" name="Connector 38"/>
          <p:cNvCxnSpPr/>
          <p:nvPr/>
        </p:nvCxnSpPr>
        <p:spPr>
          <a:xfrm>
            <a:off x="4698251" y="4709160"/>
            <a:ext cx="3606699" cy="0"/>
          </a:xfrm>
          <a:prstGeom prst="line">
            <a:avLst/>
          </a:prstGeom>
          <a:ln w="9525">
            <a:solidFill>
              <a:srgbClr val="E5E7EB"/>
            </a:solidFill>
          </a:ln>
        </p:spPr>
      </p:cxnSp>
      <p:sp>
        <p:nvSpPr>
          <p:cNvPr id="40" name="TextBox 39"/>
          <p:cNvSpPr txBox="1"/>
          <p:nvPr/>
        </p:nvSpPr>
        <p:spPr>
          <a:xfrm>
            <a:off x="4698251" y="4764024"/>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41" name="TextBox 40"/>
          <p:cNvSpPr txBox="1"/>
          <p:nvPr/>
        </p:nvSpPr>
        <p:spPr>
          <a:xfrm>
            <a:off x="5045723" y="4764024"/>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Error analysis</a:t>
            </a:r>
          </a:p>
        </p:txBody>
      </p:sp>
      <p:cxnSp>
        <p:nvCxnSpPr>
          <p:cNvPr id="42" name="Connector 41"/>
          <p:cNvCxnSpPr/>
          <p:nvPr/>
        </p:nvCxnSpPr>
        <p:spPr>
          <a:xfrm>
            <a:off x="4698251" y="5129784"/>
            <a:ext cx="3606699" cy="0"/>
          </a:xfrm>
          <a:prstGeom prst="line">
            <a:avLst/>
          </a:prstGeom>
          <a:ln w="9525">
            <a:solidFill>
              <a:srgbClr val="E5E7EB"/>
            </a:solidFill>
          </a:ln>
        </p:spPr>
      </p:cxnSp>
      <p:sp>
        <p:nvSpPr>
          <p:cNvPr id="43" name="TextBox 42"/>
          <p:cNvSpPr txBox="1"/>
          <p:nvPr/>
        </p:nvSpPr>
        <p:spPr>
          <a:xfrm>
            <a:off x="4698251" y="5184648"/>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44" name="TextBox 43"/>
          <p:cNvSpPr txBox="1"/>
          <p:nvPr/>
        </p:nvSpPr>
        <p:spPr>
          <a:xfrm>
            <a:off x="5045723" y="5184648"/>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Line items</a:t>
            </a:r>
          </a:p>
        </p:txBody>
      </p:sp>
      <p:sp>
        <p:nvSpPr>
          <p:cNvPr id="45" name="TextBox 44"/>
          <p:cNvSpPr txBox="1"/>
          <p:nvPr/>
        </p:nvSpPr>
        <p:spPr>
          <a:xfrm>
            <a:off x="685800" y="5074920"/>
            <a:ext cx="3787033" cy="822960"/>
          </a:xfrm>
          <a:prstGeom prst="rect">
            <a:avLst/>
          </a:prstGeom>
          <a:noFill/>
        </p:spPr>
        <p:txBody>
          <a:bodyPr wrap="square" anchor="t" lIns="0" rIns="0" tIns="0" bIns="0">
            <a:spAutoFit/>
          </a:bodyPr>
          <a:lstStyle/>
          <a:p>
            <a:pPr algn="l">
              <a:lnSpc>
                <a:spcPct val="125000"/>
              </a:lnSpc>
            </a:pPr>
            <a:r>
              <a:rPr sz="1400" b="0">
                <a:solidFill>
                  <a:srgbClr val="6B7280"/>
                </a:solidFill>
                <a:latin typeface="Segoe UI"/>
              </a:rPr>
              <a:t>Helps, limits, why: </a:t>
            </a:r>
            <a:r>
              <a:rPr sz="1400" b="0">
                <a:solidFill>
                  <a:srgbClr val="0B0F19"/>
                </a:solidFill>
                <a:latin typeface="Segoe UI"/>
              </a:rPr>
              <a:t>learns receipt layouts fast; next, Indian receipts.</a:t>
            </a:r>
          </a:p>
        </p:txBody>
      </p:sp>
      <p:sp>
        <p:nvSpPr>
          <p:cNvPr id="46" name="TextBox 45"/>
          <p:cNvSpPr txBox="1"/>
          <p:nvPr/>
        </p:nvSpPr>
        <p:spPr>
          <a:xfrm>
            <a:off x="9026290" y="1828800"/>
            <a:ext cx="2479605" cy="365760"/>
          </a:xfrm>
          <a:prstGeom prst="rect">
            <a:avLst/>
          </a:prstGeom>
          <a:noFill/>
        </p:spPr>
        <p:txBody>
          <a:bodyPr wrap="square" anchor="t" lIns="0" rIns="0" tIns="0" bIns="0">
            <a:spAutoFit/>
          </a:bodyPr>
          <a:lstStyle/>
          <a:p>
            <a:pPr algn="l">
              <a:lnSpc>
                <a:spcPct val="108000"/>
              </a:lnSpc>
            </a:pPr>
            <a:r>
              <a:rPr sz="1200" b="1" spc="150">
                <a:solidFill>
                  <a:srgbClr val="6B7280"/>
                </a:solidFill>
                <a:latin typeface="Segoe UI"/>
              </a:rPr>
              <a:t>Model card</a:t>
            </a:r>
          </a:p>
        </p:txBody>
      </p:sp>
      <p:pic>
        <p:nvPicPr>
          <p:cNvPr id="47" name="Picture 46" descr="qr_hf.png"/>
          <p:cNvPicPr>
            <a:picLocks noChangeAspect="1"/>
          </p:cNvPicPr>
          <p:nvPr/>
        </p:nvPicPr>
        <p:blipFill>
          <a:blip r:embed="rId2"/>
          <a:stretch>
            <a:fillRect/>
          </a:stretch>
        </p:blipFill>
        <p:spPr>
          <a:xfrm>
            <a:off x="9026290" y="2240280"/>
            <a:ext cx="1463040" cy="1463040"/>
          </a:xfrm>
          <a:prstGeom prst="rect">
            <a:avLst/>
          </a:prstGeom>
        </p:spPr>
      </p:pic>
      <p:sp>
        <p:nvSpPr>
          <p:cNvPr id="48" name="TextBox 47"/>
          <p:cNvSpPr txBox="1"/>
          <p:nvPr/>
        </p:nvSpPr>
        <p:spPr>
          <a:xfrm>
            <a:off x="9026290" y="3794760"/>
            <a:ext cx="2479605" cy="548640"/>
          </a:xfrm>
          <a:prstGeom prst="rect">
            <a:avLst/>
          </a:prstGeom>
          <a:noFill/>
        </p:spPr>
        <p:txBody>
          <a:bodyPr wrap="square" anchor="t" lIns="0" rIns="0" tIns="0" bIns="0">
            <a:spAutoFit/>
          </a:bodyPr>
          <a:lstStyle/>
          <a:p>
            <a:pPr algn="l">
              <a:lnSpc>
                <a:spcPct val="108000"/>
              </a:lnSpc>
            </a:pPr>
            <a:r>
              <a:rPr sz="1000" b="0">
                <a:solidFill>
                  <a:srgbClr val="6B7280"/>
                </a:solidFill>
                <a:latin typeface="Segoe UI"/>
              </a:rPr>
              <a:t>huggingface.co/owaisnoe/
gemma4-e2b-sroie-lora</a:t>
            </a:r>
          </a:p>
        </p:txBody>
      </p:sp>
      <p:sp>
        <p:nvSpPr>
          <p:cNvPr id="49" name="TextBox 48"/>
          <p:cNvSpPr txBox="1"/>
          <p:nvPr/>
        </p:nvSpPr>
        <p:spPr>
          <a:xfrm>
            <a:off x="9026290" y="4526280"/>
            <a:ext cx="2479605" cy="1280160"/>
          </a:xfrm>
          <a:prstGeom prst="rect">
            <a:avLst/>
          </a:prstGeom>
          <a:noFill/>
        </p:spPr>
        <p:txBody>
          <a:bodyPr wrap="square" anchor="t" lIns="0" rIns="0" tIns="0" bIns="0">
            <a:spAutoFit/>
          </a:bodyPr>
          <a:lstStyle/>
          <a:p>
            <a:pPr algn="l">
              <a:lnSpc>
                <a:spcPct val="130000"/>
              </a:lnSpc>
            </a:pPr>
            <a:r>
              <a:rPr sz="1200" b="1">
                <a:solidFill>
                  <a:srgbClr val="0B0F19"/>
                </a:solidFill>
                <a:latin typeface="Segoe UI"/>
              </a:rPr>
              <a:t>Next</a:t>
            </a:r>
          </a:p>
          <a:p>
            <a:pPr algn="l">
              <a:lnSpc>
                <a:spcPct val="130000"/>
              </a:lnSpc>
            </a:pPr>
            <a:r>
              <a:rPr sz="1200" b="0">
                <a:solidFill>
                  <a:srgbClr val="374151"/>
                </a:solidFill>
                <a:latin typeface="Segoe UI"/>
              </a:rPr>
              <a:t>Indian receipts</a:t>
            </a:r>
          </a:p>
          <a:p>
            <a:pPr algn="l">
              <a:lnSpc>
                <a:spcPct val="130000"/>
              </a:lnSpc>
            </a:pPr>
            <a:r>
              <a:rPr sz="1200" b="0">
                <a:solidFill>
                  <a:srgbClr val="374151"/>
                </a:solidFill>
                <a:latin typeface="Segoe UI"/>
              </a:rPr>
              <a:t>UPI requests from the split</a:t>
            </a:r>
          </a:p>
          <a:p>
            <a:pPr algn="l">
              <a:lnSpc>
                <a:spcPct val="130000"/>
              </a:lnSpc>
            </a:pPr>
            <a:r>
              <a:rPr sz="1200" b="0">
                <a:solidFill>
                  <a:srgbClr val="374151"/>
                </a:solidFill>
                <a:latin typeface="Segoe UI"/>
              </a:rPr>
              <a:t>On-device: receipts stay on the phone</a:t>
            </a:r>
          </a:p>
        </p:txBody>
      </p:sp>
      <p:sp>
        <p:nvSpPr>
          <p:cNvPr id="50" name="TextBox 49"/>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51" name="TextBox 50"/>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APPENDIX  —  FOR QUESTIONS</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000" b="1">
                <a:solidFill>
                  <a:srgbClr val="0B0F19"/>
                </a:solidFill>
                <a:latin typeface="Segoe UI"/>
              </a:rPr>
              <a:t>Robustness.</a:t>
            </a:r>
          </a:p>
        </p:txBody>
      </p:sp>
      <p:pic>
        <p:nvPicPr>
          <p:cNvPr id="4" name="Picture 3" descr="seen_new.png"/>
          <p:cNvPicPr>
            <a:picLocks noChangeAspect="1"/>
          </p:cNvPicPr>
          <p:nvPr/>
        </p:nvPicPr>
        <p:blipFill>
          <a:blip r:embed="rId2"/>
          <a:stretch>
            <a:fillRect/>
          </a:stretch>
        </p:blipFill>
        <p:spPr>
          <a:xfrm>
            <a:off x="685800" y="1691640"/>
            <a:ext cx="4655656" cy="3840480"/>
          </a:xfrm>
          <a:prstGeom prst="rect">
            <a:avLst/>
          </a:prstGeom>
        </p:spPr>
      </p:pic>
      <p:sp>
        <p:nvSpPr>
          <p:cNvPr id="5" name="TextBox 4"/>
          <p:cNvSpPr txBox="1"/>
          <p:nvPr/>
        </p:nvSpPr>
        <p:spPr>
          <a:xfrm>
            <a:off x="6997522" y="1783080"/>
            <a:ext cx="4508373" cy="4023360"/>
          </a:xfrm>
          <a:prstGeom prst="rect">
            <a:avLst/>
          </a:prstGeom>
          <a:noFill/>
        </p:spPr>
        <p:txBody>
          <a:bodyPr wrap="square" anchor="t" lIns="0" rIns="0" tIns="0" bIns="0">
            <a:spAutoFit/>
          </a:bodyPr>
          <a:lstStyle/>
          <a:p>
            <a:pPr algn="l">
              <a:lnSpc>
                <a:spcPct val="125000"/>
              </a:lnSpc>
            </a:pPr>
            <a:r>
              <a:rPr sz="1250" b="0">
                <a:solidFill>
                  <a:srgbClr val="374151"/>
                </a:solidFill>
                <a:latin typeface="Segoe UI"/>
              </a:rPr>
              <a:t>Seen vs new shops (first model, budget 560): 63 of the 100 test receipts come from shops that also appear in training; on brand-new shops the fine-tune still doubles the prompt (37.8% vs 18.9%).</a:t>
            </a:r>
          </a:p>
          <a:p>
            <a:pPr algn="l">
              <a:lnSpc>
                <a:spcPct val="125000"/>
              </a:lnSpc>
            </a:pPr>
            <a:r>
              <a:rPr sz="1250" b="0">
                <a:solidFill>
                  <a:srgbClr val="374151"/>
                </a:solidFill>
                <a:latin typeface="Segoe UI"/>
              </a:rPr>
              <a:t>Other receipt styles (never trained on): WildReceipt, all labelled fields 58% plain vs 56% fine-tuned (not significant); CORD totals 87.5% vs 91.7% (not significant). No significant loss.</a:t>
            </a:r>
          </a:p>
          <a:p>
            <a:pPr algn="l">
              <a:lnSpc>
                <a:spcPct val="125000"/>
              </a:lnSpc>
            </a:pPr>
            <a:r>
              <a:rPr sz="1250" b="0">
                <a:solidFill>
                  <a:srgbClr val="374151"/>
                </a:solidFill>
                <a:latin typeface="Segoe UI"/>
              </a:rPr>
              <a:t>Retrieval (vendor memory from training labels): fine-tuned 66% to 69%; prompt 37% to 47%.</a:t>
            </a:r>
          </a:p>
          <a:p>
            <a:pPr algn="l">
              <a:lnSpc>
                <a:spcPct val="125000"/>
              </a:lnSpc>
            </a:pPr>
            <a:r>
              <a:rPr sz="1250" b="0">
                <a:solidFill>
                  <a:srgbClr val="374151"/>
                </a:solidFill>
                <a:latin typeface="Segoe UI"/>
              </a:rPr>
              <a:t>Line items, zero-shot on CORD: item F1 71% plain vs 79% fine-tuned.</a:t>
            </a:r>
          </a:p>
        </p:txBody>
      </p:sp>
      <p:sp>
        <p:nvSpPr>
          <p:cNvPr id="6" name="TextBox 5"/>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7" name="TextBox 6"/>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APPENDIX  —  FOR QUESTIONS</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000" b="1">
                <a:solidFill>
                  <a:srgbClr val="0B0F19"/>
                </a:solidFill>
                <a:latin typeface="Segoe UI"/>
              </a:rPr>
              <a:t>Experiments and one silent bug.</a:t>
            </a:r>
          </a:p>
        </p:txBody>
      </p:sp>
      <p:pic>
        <p:nvPicPr>
          <p:cNvPr id="4" name="Picture 3" descr="experiments.png"/>
          <p:cNvPicPr>
            <a:picLocks noChangeAspect="1"/>
          </p:cNvPicPr>
          <p:nvPr/>
        </p:nvPicPr>
        <p:blipFill>
          <a:blip r:embed="rId2"/>
          <a:stretch>
            <a:fillRect/>
          </a:stretch>
        </p:blipFill>
        <p:spPr>
          <a:xfrm>
            <a:off x="685800" y="1783080"/>
            <a:ext cx="5774023" cy="3017520"/>
          </a:xfrm>
          <a:prstGeom prst="rect">
            <a:avLst/>
          </a:prstGeom>
        </p:spPr>
      </p:pic>
      <p:sp>
        <p:nvSpPr>
          <p:cNvPr id="5" name="TextBox 4"/>
          <p:cNvSpPr txBox="1"/>
          <p:nvPr/>
        </p:nvSpPr>
        <p:spPr>
          <a:xfrm>
            <a:off x="7448359" y="1783080"/>
            <a:ext cx="4057535" cy="4206240"/>
          </a:xfrm>
          <a:prstGeom prst="rect">
            <a:avLst/>
          </a:prstGeom>
          <a:noFill/>
        </p:spPr>
        <p:txBody>
          <a:bodyPr wrap="square" anchor="t" lIns="0" rIns="0" tIns="0" bIns="0">
            <a:spAutoFit/>
          </a:bodyPr>
          <a:lstStyle/>
          <a:p>
            <a:pPr algn="l">
              <a:lnSpc>
                <a:spcPct val="125000"/>
              </a:lnSpc>
            </a:pPr>
            <a:r>
              <a:rPr sz="1250" b="0">
                <a:solidFill>
                  <a:srgbClr val="374151"/>
                </a:solidFill>
                <a:latin typeface="Segoe UI"/>
              </a:rPr>
              <a:t>Each arm changes one setting, on the same 100 receipts. Only resolution was significant: 1120 vs 560 tokens, 11 receipts better and 1 worse (p = 0.006). Doubling the model (E4B) gave 69%.</a:t>
            </a:r>
          </a:p>
          <a:p>
            <a:pPr algn="l">
              <a:lnSpc>
                <a:spcPct val="125000"/>
              </a:lnSpc>
            </a:pPr>
            <a:r>
              <a:rPr sz="1250" b="0">
                <a:solidFill>
                  <a:srgbClr val="374151"/>
                </a:solidFill>
                <a:latin typeface="Segoe UI"/>
              </a:rPr>
              <a:t>The collator bug: Unsloth's default collator shrank every receipt to 512 px and snapped it to 32 px, with the same token count but different pixels (max difference 0.68). Fixed with images as a dataset column and resize="max" (difference 0.0000).</a:t>
            </a:r>
          </a:p>
          <a:p>
            <a:pPr algn="l">
              <a:lnSpc>
                <a:spcPct val="125000"/>
              </a:lnSpc>
            </a:pPr>
            <a:r>
              <a:rPr sz="1250" b="0">
                <a:solidFill>
                  <a:srgbClr val="374151"/>
                </a:solidFill>
                <a:latin typeface="Segoe UI"/>
              </a:rPr>
              <a:t>Trust check: when fine-tuned and plain agree on a field, it was right 83-100% of the time (first model).</a:t>
            </a:r>
          </a:p>
        </p:txBody>
      </p:sp>
      <p:sp>
        <p:nvSpPr>
          <p:cNvPr id="6" name="TextBox 5"/>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7" name="TextBox 6"/>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APPENDIX  —  DATA AND SETTINGS</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000" b="1">
                <a:solidFill>
                  <a:srgbClr val="0B0F19"/>
                </a:solidFill>
                <a:latin typeface="Segoe UI"/>
              </a:rPr>
              <a:t>Data and settings.</a:t>
            </a:r>
          </a:p>
        </p:txBody>
      </p:sp>
      <p:cxnSp>
        <p:nvCxnSpPr>
          <p:cNvPr id="4" name="Connector 3"/>
          <p:cNvCxnSpPr/>
          <p:nvPr/>
        </p:nvCxnSpPr>
        <p:spPr>
          <a:xfrm>
            <a:off x="685800" y="1618488"/>
            <a:ext cx="10820095" cy="0"/>
          </a:xfrm>
          <a:prstGeom prst="line">
            <a:avLst/>
          </a:prstGeom>
          <a:ln w="9525">
            <a:solidFill>
              <a:srgbClr val="E5E7EB"/>
            </a:solidFill>
          </a:ln>
        </p:spPr>
      </p:cxnSp>
      <p:sp>
        <p:nvSpPr>
          <p:cNvPr id="5" name="TextBox 4"/>
          <p:cNvSpPr txBox="1"/>
          <p:nvPr/>
        </p:nvSpPr>
        <p:spPr>
          <a:xfrm>
            <a:off x="685800" y="1691640"/>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Data</a:t>
            </a:r>
          </a:p>
        </p:txBody>
      </p:sp>
      <p:sp>
        <p:nvSpPr>
          <p:cNvPr id="6" name="TextBox 5"/>
          <p:cNvSpPr txBox="1"/>
          <p:nvPr/>
        </p:nvSpPr>
        <p:spPr>
          <a:xfrm>
            <a:off x="2669484" y="1691640"/>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SROIE (ICDAR 2019, CC BY 4.0): 626 training receipts; 100 fixed test receipts (seed 0) from the 361-receipt test split; none trained on</a:t>
            </a:r>
          </a:p>
        </p:txBody>
      </p:sp>
      <p:cxnSp>
        <p:nvCxnSpPr>
          <p:cNvPr id="7" name="Connector 6"/>
          <p:cNvCxnSpPr/>
          <p:nvPr/>
        </p:nvCxnSpPr>
        <p:spPr>
          <a:xfrm>
            <a:off x="685800" y="2221992"/>
            <a:ext cx="10820095" cy="0"/>
          </a:xfrm>
          <a:prstGeom prst="line">
            <a:avLst/>
          </a:prstGeom>
          <a:ln w="9525">
            <a:solidFill>
              <a:srgbClr val="E5E7EB"/>
            </a:solidFill>
          </a:ln>
        </p:spPr>
      </p:cxnSp>
      <p:sp>
        <p:nvSpPr>
          <p:cNvPr id="8" name="TextBox 7"/>
          <p:cNvSpPr txBox="1"/>
          <p:nvPr/>
        </p:nvSpPr>
        <p:spPr>
          <a:xfrm>
            <a:off x="685800" y="2295144"/>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Base model</a:t>
            </a:r>
          </a:p>
        </p:txBody>
      </p:sp>
      <p:sp>
        <p:nvSpPr>
          <p:cNvPr id="9" name="TextBox 8"/>
          <p:cNvSpPr txBox="1"/>
          <p:nvPr/>
        </p:nvSpPr>
        <p:spPr>
          <a:xfrm>
            <a:off x="2669484" y="2295144"/>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unsloth/gemma-4-E2B-it, 16-bit LoRA adapters (never merged); r = 32, vision + language layers, 1.15% of weights</a:t>
            </a:r>
          </a:p>
        </p:txBody>
      </p:sp>
      <p:cxnSp>
        <p:nvCxnSpPr>
          <p:cNvPr id="10" name="Connector 9"/>
          <p:cNvCxnSpPr/>
          <p:nvPr/>
        </p:nvCxnSpPr>
        <p:spPr>
          <a:xfrm>
            <a:off x="685800" y="2825496"/>
            <a:ext cx="10820095" cy="0"/>
          </a:xfrm>
          <a:prstGeom prst="line">
            <a:avLst/>
          </a:prstGeom>
          <a:ln w="9525">
            <a:solidFill>
              <a:srgbClr val="E5E7EB"/>
            </a:solidFill>
          </a:ln>
        </p:spPr>
      </p:cxnSp>
      <p:sp>
        <p:nvSpPr>
          <p:cNvPr id="11" name="TextBox 10"/>
          <p:cNvSpPr txBox="1"/>
          <p:nvPr/>
        </p:nvSpPr>
        <p:spPr>
          <a:xfrm>
            <a:off x="685800" y="2898648"/>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Training</a:t>
            </a:r>
          </a:p>
        </p:txBody>
      </p:sp>
      <p:sp>
        <p:nvSpPr>
          <p:cNvPr id="12" name="TextBox 11"/>
          <p:cNvSpPr txBox="1"/>
          <p:nvPr/>
        </p:nvSpPr>
        <p:spPr>
          <a:xfrm>
            <a:off x="2669484" y="2898648"/>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lr 2e-4, cosine, adamw_8bit, batch 1 x grad-accum 4, 5 smoke + 157 steps (1 epoch), 2.5 min on a Colab G4</a:t>
            </a:r>
          </a:p>
        </p:txBody>
      </p:sp>
      <p:cxnSp>
        <p:nvCxnSpPr>
          <p:cNvPr id="13" name="Connector 12"/>
          <p:cNvCxnSpPr/>
          <p:nvPr/>
        </p:nvCxnSpPr>
        <p:spPr>
          <a:xfrm>
            <a:off x="685800" y="3429000"/>
            <a:ext cx="10820095" cy="0"/>
          </a:xfrm>
          <a:prstGeom prst="line">
            <a:avLst/>
          </a:prstGeom>
          <a:ln w="9525">
            <a:solidFill>
              <a:srgbClr val="E5E7EB"/>
            </a:solidFill>
          </a:ln>
        </p:spPr>
      </p:cxnSp>
      <p:sp>
        <p:nvSpPr>
          <p:cNvPr id="14" name="TextBox 13"/>
          <p:cNvSpPr txBox="1"/>
          <p:nvPr/>
        </p:nvSpPr>
        <p:spPr>
          <a:xfrm>
            <a:off x="685800" y="3502152"/>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Versions</a:t>
            </a:r>
          </a:p>
        </p:txBody>
      </p:sp>
      <p:sp>
        <p:nvSpPr>
          <p:cNvPr id="15" name="TextBox 14"/>
          <p:cNvSpPr txBox="1"/>
          <p:nvPr/>
        </p:nvSpPr>
        <p:spPr>
          <a:xfrm>
            <a:off x="2669484" y="3502152"/>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v1: 560 visual tokens (66% receipts, 89.5% fields)  ·  v2: 1120 visual tokens (76% / 92%, best of 5 configurations)</a:t>
            </a:r>
          </a:p>
        </p:txBody>
      </p:sp>
      <p:cxnSp>
        <p:nvCxnSpPr>
          <p:cNvPr id="16" name="Connector 15"/>
          <p:cNvCxnSpPr/>
          <p:nvPr/>
        </p:nvCxnSpPr>
        <p:spPr>
          <a:xfrm>
            <a:off x="685800" y="4032504"/>
            <a:ext cx="10820095" cy="0"/>
          </a:xfrm>
          <a:prstGeom prst="line">
            <a:avLst/>
          </a:prstGeom>
          <a:ln w="9525">
            <a:solidFill>
              <a:srgbClr val="E5E7EB"/>
            </a:solidFill>
          </a:ln>
        </p:spPr>
      </p:cxnSp>
      <p:sp>
        <p:nvSpPr>
          <p:cNvPr id="17" name="TextBox 16"/>
          <p:cNvSpPr txBox="1"/>
          <p:nvPr/>
        </p:nvSpPr>
        <p:spPr>
          <a:xfrm>
            <a:off x="685800" y="4105656"/>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Evaluation</a:t>
            </a:r>
          </a:p>
        </p:txBody>
      </p:sp>
      <p:sp>
        <p:nvSpPr>
          <p:cNvPr id="18" name="TextBox 17"/>
          <p:cNvSpPr txBox="1"/>
          <p:nvPr/>
        </p:nvSpPr>
        <p:spPr>
          <a:xfrm>
            <a:off x="2669484" y="4105656"/>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image-first prompt, greedy decoding, batch size 1; strict + normalized scoring; exact McNemar tests</a:t>
            </a:r>
          </a:p>
        </p:txBody>
      </p:sp>
      <p:cxnSp>
        <p:nvCxnSpPr>
          <p:cNvPr id="19" name="Connector 18"/>
          <p:cNvCxnSpPr/>
          <p:nvPr/>
        </p:nvCxnSpPr>
        <p:spPr>
          <a:xfrm>
            <a:off x="685800" y="4636008"/>
            <a:ext cx="10820095" cy="0"/>
          </a:xfrm>
          <a:prstGeom prst="line">
            <a:avLst/>
          </a:prstGeom>
          <a:ln w="9525">
            <a:solidFill>
              <a:srgbClr val="E5E7EB"/>
            </a:solidFill>
          </a:ln>
        </p:spPr>
      </p:cxnSp>
      <p:sp>
        <p:nvSpPr>
          <p:cNvPr id="20" name="TextBox 19"/>
          <p:cNvSpPr txBox="1"/>
          <p:nvPr/>
        </p:nvSpPr>
        <p:spPr>
          <a:xfrm>
            <a:off x="685800" y="4709160"/>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Baselines</a:t>
            </a:r>
          </a:p>
        </p:txBody>
      </p:sp>
      <p:sp>
        <p:nvSpPr>
          <p:cNvPr id="21" name="TextBox 20"/>
          <p:cNvSpPr txBox="1"/>
          <p:nvPr/>
        </p:nvSpPr>
        <p:spPr>
          <a:xfrm>
            <a:off x="2669484" y="4709160"/>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plain model, same settings; engineered prompt measured at 560 tokens (at 1120 the plain model scores lower)</a:t>
            </a:r>
          </a:p>
        </p:txBody>
      </p:sp>
      <p:cxnSp>
        <p:nvCxnSpPr>
          <p:cNvPr id="22" name="Connector 21"/>
          <p:cNvCxnSpPr/>
          <p:nvPr/>
        </p:nvCxnSpPr>
        <p:spPr>
          <a:xfrm>
            <a:off x="685800" y="5239512"/>
            <a:ext cx="10820095" cy="0"/>
          </a:xfrm>
          <a:prstGeom prst="line">
            <a:avLst/>
          </a:prstGeom>
          <a:ln w="9525">
            <a:solidFill>
              <a:srgbClr val="E5E7EB"/>
            </a:solidFill>
          </a:ln>
        </p:spPr>
      </p:cxnSp>
      <p:sp>
        <p:nvSpPr>
          <p:cNvPr id="23" name="TextBox 22"/>
          <p:cNvSpPr txBox="1"/>
          <p:nvPr/>
        </p:nvSpPr>
        <p:spPr>
          <a:xfrm>
            <a:off x="685800" y="5312664"/>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Compute</a:t>
            </a:r>
          </a:p>
        </p:txBody>
      </p:sp>
      <p:sp>
        <p:nvSpPr>
          <p:cNvPr id="24" name="TextBox 23"/>
          <p:cNvSpPr txBox="1"/>
          <p:nvPr/>
        </p:nvSpPr>
        <p:spPr>
          <a:xfrm>
            <a:off x="2669484" y="5312664"/>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Colab G4 for speed; E2B LoRA needs about 8-10 GB per Unsloth's docs, so it should fit a free T4 (not tested)</a:t>
            </a:r>
          </a:p>
        </p:txBody>
      </p:sp>
      <p:sp>
        <p:nvSpPr>
          <p:cNvPr id="25" name="TextBox 24"/>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26" name="TextBox 25"/>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